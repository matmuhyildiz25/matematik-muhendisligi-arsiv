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18" r:id="rId3"/>
    <p:sldId id="319" r:id="rId4"/>
    <p:sldId id="320" r:id="rId5"/>
    <p:sldId id="257" r:id="rId6"/>
    <p:sldId id="297" r:id="rId7"/>
    <p:sldId id="315" r:id="rId8"/>
    <p:sldId id="316" r:id="rId9"/>
    <p:sldId id="317" r:id="rId10"/>
    <p:sldId id="299" r:id="rId11"/>
    <p:sldId id="300" r:id="rId12"/>
    <p:sldId id="321" r:id="rId13"/>
    <p:sldId id="324" r:id="rId14"/>
    <p:sldId id="322" r:id="rId15"/>
    <p:sldId id="323" r:id="rId16"/>
    <p:sldId id="301" r:id="rId17"/>
    <p:sldId id="302" r:id="rId18"/>
    <p:sldId id="303" r:id="rId19"/>
    <p:sldId id="306" r:id="rId20"/>
    <p:sldId id="325" r:id="rId21"/>
    <p:sldId id="304" r:id="rId22"/>
    <p:sldId id="307" r:id="rId23"/>
    <p:sldId id="308" r:id="rId24"/>
    <p:sldId id="309" r:id="rId25"/>
    <p:sldId id="310" r:id="rId26"/>
    <p:sldId id="326" r:id="rId27"/>
    <p:sldId id="327" r:id="rId28"/>
    <p:sldId id="328" r:id="rId29"/>
    <p:sldId id="311" r:id="rId30"/>
    <p:sldId id="312" r:id="rId31"/>
    <p:sldId id="313" r:id="rId32"/>
    <p:sldId id="314" r:id="rId33"/>
    <p:sldId id="258" r:id="rId34"/>
    <p:sldId id="259" r:id="rId35"/>
    <p:sldId id="260" r:id="rId36"/>
    <p:sldId id="262" r:id="rId37"/>
    <p:sldId id="263" r:id="rId38"/>
    <p:sldId id="264" r:id="rId39"/>
    <p:sldId id="265" r:id="rId40"/>
    <p:sldId id="266" r:id="rId41"/>
    <p:sldId id="267" r:id="rId42"/>
    <p:sldId id="268" r:id="rId43"/>
    <p:sldId id="269" r:id="rId44"/>
    <p:sldId id="270" r:id="rId45"/>
    <p:sldId id="271" r:id="rId46"/>
    <p:sldId id="272" r:id="rId47"/>
    <p:sldId id="273" r:id="rId48"/>
    <p:sldId id="274" r:id="rId49"/>
    <p:sldId id="275" r:id="rId50"/>
    <p:sldId id="276" r:id="rId51"/>
    <p:sldId id="277" r:id="rId52"/>
    <p:sldId id="278" r:id="rId53"/>
    <p:sldId id="279" r:id="rId54"/>
    <p:sldId id="280" r:id="rId55"/>
    <p:sldId id="281" r:id="rId56"/>
    <p:sldId id="282" r:id="rId57"/>
    <p:sldId id="283" r:id="rId58"/>
    <p:sldId id="284" r:id="rId59"/>
    <p:sldId id="285" r:id="rId60"/>
    <p:sldId id="286" r:id="rId61"/>
    <p:sldId id="287" r:id="rId62"/>
    <p:sldId id="288" r:id="rId63"/>
    <p:sldId id="289" r:id="rId64"/>
    <p:sldId id="290" r:id="rId65"/>
    <p:sldId id="291" r:id="rId66"/>
    <p:sldId id="292" r:id="rId67"/>
    <p:sldId id="293" r:id="rId68"/>
    <p:sldId id="294" r:id="rId69"/>
    <p:sldId id="329" r:id="rId70"/>
    <p:sldId id="330" r:id="rId71"/>
    <p:sldId id="331" r:id="rId72"/>
    <p:sldId id="332" r:id="rId73"/>
    <p:sldId id="333" r:id="rId74"/>
    <p:sldId id="334" r:id="rId75"/>
    <p:sldId id="336" r:id="rId76"/>
    <p:sldId id="335" r:id="rId77"/>
    <p:sldId id="295" r:id="rId78"/>
    <p:sldId id="296" r:id="rId79"/>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0" name="9 Dik Üçgen"/>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Başlık"/>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tr-TR" smtClean="0"/>
              <a:t>Asıl başlık stili için tıklatın</a:t>
            </a:r>
            <a:endParaRPr kumimoji="0" lang="en-US"/>
          </a:p>
        </p:txBody>
      </p:sp>
      <p:sp>
        <p:nvSpPr>
          <p:cNvPr id="17" name="16 Alt Başlık"/>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tr-TR" smtClean="0"/>
              <a:t>Asıl alt başlık stilini düzenlemek için tıklatın</a:t>
            </a:r>
            <a:endParaRPr kumimoji="0" lang="en-US"/>
          </a:p>
        </p:txBody>
      </p:sp>
      <p:grpSp>
        <p:nvGrpSpPr>
          <p:cNvPr id="2" name="1 Grup"/>
          <p:cNvGrpSpPr/>
          <p:nvPr/>
        </p:nvGrpSpPr>
        <p:grpSpPr>
          <a:xfrm>
            <a:off x="-3765" y="4953000"/>
            <a:ext cx="9147765" cy="1912088"/>
            <a:chOff x="-3765" y="4832896"/>
            <a:chExt cx="9147765" cy="2032192"/>
          </a:xfrm>
        </p:grpSpPr>
        <p:sp>
          <p:nvSpPr>
            <p:cNvPr id="7" name="6 Serbest Form"/>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7 Serbest Form"/>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Serbest Form"/>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11 Düz Bağlayıcı"/>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29 Veri Yer Tutucusu"/>
          <p:cNvSpPr>
            <a:spLocks noGrp="1"/>
          </p:cNvSpPr>
          <p:nvPr>
            <p:ph type="dt" sz="half" idx="10"/>
          </p:nvPr>
        </p:nvSpPr>
        <p:spPr/>
        <p:txBody>
          <a:bodyPr/>
          <a:lstStyle>
            <a:lvl1pPr>
              <a:defRPr>
                <a:solidFill>
                  <a:srgbClr val="FFFFFF"/>
                </a:solidFill>
              </a:defRPr>
            </a:lvl1pPr>
            <a:extLst/>
          </a:lstStyle>
          <a:p>
            <a:fld id="{1EF64DE8-A492-4C8C-A220-F367D949BAB4}" type="datetimeFigureOut">
              <a:rPr lang="tr-TR" smtClean="0"/>
              <a:pPr/>
              <a:t>23.03.2021</a:t>
            </a:fld>
            <a:endParaRPr lang="tr-TR"/>
          </a:p>
        </p:txBody>
      </p:sp>
      <p:sp>
        <p:nvSpPr>
          <p:cNvPr id="19" name="18 Altbilgi Yer Tutucusu"/>
          <p:cNvSpPr>
            <a:spLocks noGrp="1"/>
          </p:cNvSpPr>
          <p:nvPr>
            <p:ph type="ftr" sz="quarter" idx="11"/>
          </p:nvPr>
        </p:nvSpPr>
        <p:spPr/>
        <p:txBody>
          <a:bodyPr/>
          <a:lstStyle>
            <a:lvl1pPr>
              <a:defRPr>
                <a:solidFill>
                  <a:schemeClr val="accent1">
                    <a:tint val="20000"/>
                  </a:schemeClr>
                </a:solidFill>
              </a:defRPr>
            </a:lvl1pPr>
            <a:extLst/>
          </a:lstStyle>
          <a:p>
            <a:endParaRPr lang="tr-TR"/>
          </a:p>
        </p:txBody>
      </p:sp>
      <p:sp>
        <p:nvSpPr>
          <p:cNvPr id="27" name="26 Slayt Numarası Yer Tutucusu"/>
          <p:cNvSpPr>
            <a:spLocks noGrp="1"/>
          </p:cNvSpPr>
          <p:nvPr>
            <p:ph type="sldNum" sz="quarter" idx="12"/>
          </p:nvPr>
        </p:nvSpPr>
        <p:spPr/>
        <p:txBody>
          <a:bodyPr/>
          <a:lstStyle>
            <a:lvl1pPr>
              <a:defRPr>
                <a:solidFill>
                  <a:srgbClr val="FFFFFF"/>
                </a:solidFill>
              </a:defRPr>
            </a:lvl1pPr>
            <a:extLst/>
          </a:lstStyle>
          <a:p>
            <a:fld id="{DB2931D2-2957-4B00-9B4F-9AE137966270}"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
        <p:nvSpPr>
          <p:cNvPr id="7" name="6 Başlık"/>
          <p:cNvSpPr>
            <a:spLocks noGrp="1"/>
          </p:cNvSpPr>
          <p:nvPr>
            <p:ph type="title"/>
          </p:nvPr>
        </p:nvSpPr>
        <p:spPr/>
        <p:txBody>
          <a:bodyPr rtlCol="0"/>
          <a:lstStyle/>
          <a:p>
            <a:r>
              <a:rPr kumimoji="0" lang="tr-TR" smtClean="0"/>
              <a:t>Asıl başlık stili için tıklatın</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bg>
      <p:bgRef idx="1002">
        <a:schemeClr val="bg1"/>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tr-TR" smtClean="0"/>
              <a:t>Asıl başlık stili için tıklatın</a:t>
            </a:r>
            <a:endParaRPr kumimoji="0" lang="en-US"/>
          </a:p>
        </p:txBody>
      </p:sp>
      <p:sp>
        <p:nvSpPr>
          <p:cNvPr id="3" name="2 Metin Yer Tutucusu"/>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tr-TR" smtClean="0"/>
              <a:t>Asıl metin stillerini düzenlemek için tıklatın</a:t>
            </a:r>
          </a:p>
        </p:txBody>
      </p:sp>
      <p:sp>
        <p:nvSpPr>
          <p:cNvPr id="4" name="3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
        <p:nvSpPr>
          <p:cNvPr id="7" name="6 Köşeli Çift Ayraç"/>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7 Köşeli Çift Ayraç"/>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bg>
      <p:bgRef idx="1002">
        <a:schemeClr val="bg1"/>
      </p:bgRef>
    </p:bg>
    <p:spTree>
      <p:nvGrpSpPr>
        <p:cNvPr id="1" name=""/>
        <p:cNvGrpSpPr/>
        <p:nvPr/>
      </p:nvGrpSpPr>
      <p:grpSpPr>
        <a:xfrm>
          <a:off x="0" y="0"/>
          <a:ext cx="0" cy="0"/>
          <a:chOff x="0" y="0"/>
          <a:chExt cx="0" cy="0"/>
        </a:xfrm>
      </p:grpSpPr>
      <p:sp>
        <p:nvSpPr>
          <p:cNvPr id="3" name="2 İçerik Yer Tutucusu"/>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İçerik Yer Tutucusu"/>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5" name="4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
        <p:nvSpPr>
          <p:cNvPr id="8" name="7 Başlık"/>
          <p:cNvSpPr>
            <a:spLocks noGrp="1"/>
          </p:cNvSpPr>
          <p:nvPr>
            <p:ph type="title"/>
          </p:nvPr>
        </p:nvSpPr>
        <p:spPr/>
        <p:txBody>
          <a:bodyPr rtlCol="0"/>
          <a:lstStyle/>
          <a:p>
            <a:r>
              <a:rPr kumimoji="0" lang="tr-TR" smtClean="0"/>
              <a:t>Asıl başlık stili için tıklatın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Karşılaştırma">
    <p:bg>
      <p:bgRef idx="1003">
        <a:schemeClr val="bg1"/>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8229600" cy="1143000"/>
          </a:xfrm>
        </p:spPr>
        <p:txBody>
          <a:bodyPr anchor="ctr"/>
          <a:lstStyle>
            <a:lvl1pPr>
              <a:defRPr/>
            </a:lvl1pPr>
            <a:extLst/>
          </a:lstStyle>
          <a:p>
            <a:r>
              <a:rPr kumimoji="0" lang="tr-TR" smtClean="0"/>
              <a:t>Asıl başlık stili için tıklatın</a:t>
            </a:r>
            <a:endParaRPr kumimoji="0" lang="en-US"/>
          </a:p>
        </p:txBody>
      </p:sp>
      <p:sp>
        <p:nvSpPr>
          <p:cNvPr id="3" name="2 Metin Yer Tutucusu"/>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tr-TR" smtClean="0"/>
              <a:t>Asıl metin stillerini düzenlemek için tıklatın</a:t>
            </a:r>
          </a:p>
        </p:txBody>
      </p:sp>
      <p:sp>
        <p:nvSpPr>
          <p:cNvPr id="4" name="3 Metin Yer Tutucusu"/>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tr-TR" smtClean="0"/>
              <a:t>Asıl metin stillerini düzenlemek için tıklatın</a:t>
            </a:r>
          </a:p>
        </p:txBody>
      </p:sp>
      <p:sp>
        <p:nvSpPr>
          <p:cNvPr id="5" name="4 İçerik Yer Tutucusu"/>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6" name="5 İçerik Yer Tutucusu"/>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7" name="6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bg>
      <p:bgRef idx="1002">
        <a:schemeClr val="bg1"/>
      </p:bgRef>
    </p:bg>
    <p:spTree>
      <p:nvGrpSpPr>
        <p:cNvPr id="1" name=""/>
        <p:cNvGrpSpPr/>
        <p:nvPr/>
      </p:nvGrpSpPr>
      <p:grpSpPr>
        <a:xfrm>
          <a:off x="0" y="0"/>
          <a:ext cx="0" cy="0"/>
          <a:chOff x="0" y="0"/>
          <a:chExt cx="0" cy="0"/>
        </a:xfrm>
      </p:grpSpPr>
      <p:sp>
        <p:nvSpPr>
          <p:cNvPr id="3" name="2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
        <p:nvSpPr>
          <p:cNvPr id="6" name="5 Başlık"/>
          <p:cNvSpPr>
            <a:spLocks noGrp="1"/>
          </p:cNvSpPr>
          <p:nvPr>
            <p:ph type="title"/>
          </p:nvPr>
        </p:nvSpPr>
        <p:spPr/>
        <p:txBody>
          <a:bodyPr rtlCol="0"/>
          <a:lstStyle/>
          <a:p>
            <a:r>
              <a:rPr kumimoji="0" lang="tr-TR" smtClean="0"/>
              <a:t>Asıl başlık stili için tıklatın</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3">
        <a:schemeClr val="bg1"/>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tr-TR" smtClean="0"/>
              <a:t>Asıl başlık stili için tıklatın</a:t>
            </a:r>
            <a:endParaRPr kumimoji="0" lang="en-US"/>
          </a:p>
        </p:txBody>
      </p:sp>
      <p:sp>
        <p:nvSpPr>
          <p:cNvPr id="3" name="2 Metin Yer Tutucusu"/>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tr-TR" smtClean="0"/>
              <a:t>Asıl metin stillerini düzenlemek için tıklatın</a:t>
            </a:r>
          </a:p>
        </p:txBody>
      </p:sp>
      <p:sp>
        <p:nvSpPr>
          <p:cNvPr id="4" name="3 İçerik Yer Tutucusu"/>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5" name="4 Veri Yer Tutucusu"/>
          <p:cNvSpPr>
            <a:spLocks noGrp="1"/>
          </p:cNvSpPr>
          <p:nvPr>
            <p:ph type="dt" sz="half" idx="10"/>
          </p:nvPr>
        </p:nvSpPr>
        <p:spPr>
          <a:xfrm>
            <a:off x="6727032" y="6407944"/>
            <a:ext cx="1920240" cy="365760"/>
          </a:xfrm>
        </p:spPr>
        <p:txBody>
          <a:bodyPr/>
          <a:lstStyle/>
          <a:p>
            <a:fld id="{1EF64DE8-A492-4C8C-A220-F367D949BAB4}" type="datetimeFigureOut">
              <a:rPr lang="tr-TR" smtClean="0"/>
              <a:pPr/>
              <a:t>23.03.2021</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bg>
      <p:bgRef idx="1002">
        <a:schemeClr val="bg1"/>
      </p:bgRef>
    </p:bg>
    <p:spTree>
      <p:nvGrpSpPr>
        <p:cNvPr id="1" name=""/>
        <p:cNvGrpSpPr/>
        <p:nvPr/>
      </p:nvGrpSpPr>
      <p:grpSpPr>
        <a:xfrm>
          <a:off x="0" y="0"/>
          <a:ext cx="0" cy="0"/>
          <a:chOff x="0" y="0"/>
          <a:chExt cx="0" cy="0"/>
        </a:xfrm>
      </p:grpSpPr>
      <p:sp>
        <p:nvSpPr>
          <p:cNvPr id="4" name="3 Metin Yer Tutucusu"/>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tr-TR" smtClean="0"/>
              <a:t>Asıl metin stillerini düzenlemek için tıklatın</a:t>
            </a:r>
          </a:p>
        </p:txBody>
      </p:sp>
      <p:sp>
        <p:nvSpPr>
          <p:cNvPr id="3" name="2 Resim Yer Tutucusu"/>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tr-TR" smtClean="0"/>
              <a:t>Resim eklemek için simgeyi tıklatın</a:t>
            </a:r>
            <a:endParaRPr kumimoji="0" lang="en-US" dirty="0"/>
          </a:p>
        </p:txBody>
      </p:sp>
      <p:sp>
        <p:nvSpPr>
          <p:cNvPr id="5" name="4 Veri Yer Tutucusu"/>
          <p:cNvSpPr>
            <a:spLocks noGrp="1"/>
          </p:cNvSpPr>
          <p:nvPr>
            <p:ph type="dt" sz="half" idx="10"/>
          </p:nvPr>
        </p:nvSpPr>
        <p:spPr/>
        <p:txBody>
          <a:bodyPr/>
          <a:lstStyle>
            <a:lvl1pPr>
              <a:defRPr>
                <a:solidFill>
                  <a:schemeClr val="tx1"/>
                </a:solidFill>
              </a:defRPr>
            </a:lvl1pPr>
            <a:extLst/>
          </a:lstStyle>
          <a:p>
            <a:fld id="{1EF64DE8-A492-4C8C-A220-F367D949BAB4}" type="datetimeFigureOut">
              <a:rPr lang="tr-TR" smtClean="0"/>
              <a:pPr/>
              <a:t>23.03.2021</a:t>
            </a:fld>
            <a:endParaRPr lang="tr-TR"/>
          </a:p>
        </p:txBody>
      </p:sp>
      <p:sp>
        <p:nvSpPr>
          <p:cNvPr id="6" name="5 Altbilgi Yer Tutucusu"/>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tr-TR"/>
          </a:p>
        </p:txBody>
      </p:sp>
      <p:sp>
        <p:nvSpPr>
          <p:cNvPr id="7" name="6 Slayt Numarası Yer Tutucusu"/>
          <p:cNvSpPr>
            <a:spLocks noGrp="1"/>
          </p:cNvSpPr>
          <p:nvPr>
            <p:ph type="sldNum" sz="quarter" idx="12"/>
          </p:nvPr>
        </p:nvSpPr>
        <p:spPr/>
        <p:txBody>
          <a:bodyPr/>
          <a:lstStyle>
            <a:lvl1pPr>
              <a:defRPr>
                <a:solidFill>
                  <a:schemeClr val="tx1"/>
                </a:solidFill>
              </a:defRPr>
            </a:lvl1pPr>
            <a:extLst/>
          </a:lstStyle>
          <a:p>
            <a:fld id="{DB2931D2-2957-4B00-9B4F-9AE137966270}" type="slidenum">
              <a:rPr lang="tr-TR" smtClean="0"/>
              <a:pPr/>
              <a:t>‹#›</a:t>
            </a:fld>
            <a:endParaRPr lang="tr-TR"/>
          </a:p>
        </p:txBody>
      </p:sp>
      <p:sp>
        <p:nvSpPr>
          <p:cNvPr id="2" name="1 Başlık"/>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tr-TR" smtClean="0"/>
              <a:t>Asıl başlık stili için tıklatın</a:t>
            </a:r>
            <a:endParaRPr kumimoji="0" lang="en-US"/>
          </a:p>
        </p:txBody>
      </p:sp>
      <p:sp>
        <p:nvSpPr>
          <p:cNvPr id="8" name="7 Serbest Form"/>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Serbest Form"/>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Dik Üçgen"/>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10 Düz Bağlayıcı"/>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11 Köşeli Çift Ayraç"/>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12 Köşeli Çift Ayraç"/>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smtClean="0"/>
              <a:t>Asıl başlık stili için tıklatın</a:t>
            </a:r>
            <a:endParaRPr kumimoji="0" lang="en-US"/>
          </a:p>
        </p:txBody>
      </p:sp>
      <p:sp>
        <p:nvSpPr>
          <p:cNvPr id="3" name="2 Dikey Metin Yer Tutucusu"/>
          <p:cNvSpPr>
            <a:spLocks noGrp="1"/>
          </p:cNvSpPr>
          <p:nvPr>
            <p:ph type="body" orient="vert" idx="1"/>
          </p:nvPr>
        </p:nvSpPr>
        <p:spPr>
          <a:xfrm>
            <a:off x="457200" y="1481329"/>
            <a:ext cx="8229600" cy="4386071"/>
          </a:xfrm>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844013" y="274640"/>
            <a:ext cx="1777470" cy="5592761"/>
          </a:xfrm>
        </p:spPr>
        <p:txBody>
          <a:bodyPr vert="eaVert"/>
          <a:lstStyle/>
          <a:p>
            <a:r>
              <a:rPr kumimoji="0" lang="tr-TR" smtClean="0"/>
              <a:t>Asıl başlık stili için tıklatın</a:t>
            </a:r>
            <a:endParaRPr kumimoji="0" lang="en-US"/>
          </a:p>
        </p:txBody>
      </p:sp>
      <p:sp>
        <p:nvSpPr>
          <p:cNvPr id="3" name="2 Dikey Metin Yer Tutucusu"/>
          <p:cNvSpPr>
            <a:spLocks noGrp="1"/>
          </p:cNvSpPr>
          <p:nvPr>
            <p:ph type="body" orient="vert" idx="1"/>
          </p:nvPr>
        </p:nvSpPr>
        <p:spPr>
          <a:xfrm>
            <a:off x="457200" y="274641"/>
            <a:ext cx="6324600" cy="5592760"/>
          </a:xfrm>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1EF64DE8-A492-4C8C-A220-F367D949BAB4}" type="datetimeFigureOut">
              <a:rPr lang="tr-TR" smtClean="0"/>
              <a:pPr/>
              <a:t>23.03.2021</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B2931D2-2957-4B00-9B4F-9AE137966270}"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Serbest Form"/>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Serbest Form"/>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Dik Üçgen"/>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14 Düz Bağlayıcı"/>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Başlık Yer Tutucusu"/>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tr-TR" smtClean="0"/>
              <a:t>Asıl başlık stili için tıklatın</a:t>
            </a:r>
            <a:endParaRPr kumimoji="0" lang="en-US"/>
          </a:p>
        </p:txBody>
      </p:sp>
      <p:sp>
        <p:nvSpPr>
          <p:cNvPr id="30" name="29 Metin Yer Tutucusu"/>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tr-TR" smtClean="0"/>
              <a:t>Asıl metin stillerini düzenlemek için tıklatın</a:t>
            </a:r>
          </a:p>
          <a:p>
            <a:pPr lvl="1" eaLnBrk="1" latinLnBrk="0" hangingPunct="1"/>
            <a:r>
              <a:rPr kumimoji="0" lang="tr-TR" smtClean="0"/>
              <a:t>İkinci düzey</a:t>
            </a:r>
          </a:p>
          <a:p>
            <a:pPr lvl="2" eaLnBrk="1" latinLnBrk="0" hangingPunct="1"/>
            <a:r>
              <a:rPr kumimoji="0" lang="tr-TR" smtClean="0"/>
              <a:t>Üçüncü düzey</a:t>
            </a:r>
          </a:p>
          <a:p>
            <a:pPr lvl="3" eaLnBrk="1" latinLnBrk="0" hangingPunct="1"/>
            <a:r>
              <a:rPr kumimoji="0" lang="tr-TR" smtClean="0"/>
              <a:t>Dördüncü düzey</a:t>
            </a:r>
          </a:p>
          <a:p>
            <a:pPr lvl="4" eaLnBrk="1" latinLnBrk="0" hangingPunct="1"/>
            <a:r>
              <a:rPr kumimoji="0" lang="tr-TR" smtClean="0"/>
              <a:t>Beşinci düzey</a:t>
            </a:r>
            <a:endParaRPr kumimoji="0" lang="en-US"/>
          </a:p>
        </p:txBody>
      </p:sp>
      <p:sp>
        <p:nvSpPr>
          <p:cNvPr id="10" name="9 Veri Yer Tutucusu"/>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EF64DE8-A492-4C8C-A220-F367D949BAB4}" type="datetimeFigureOut">
              <a:rPr lang="tr-TR" smtClean="0"/>
              <a:pPr/>
              <a:t>23.03.2021</a:t>
            </a:fld>
            <a:endParaRPr lang="tr-TR"/>
          </a:p>
        </p:txBody>
      </p:sp>
      <p:sp>
        <p:nvSpPr>
          <p:cNvPr id="22" name="21 Altbilgi Yer Tutucusu"/>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tr-TR"/>
          </a:p>
        </p:txBody>
      </p:sp>
      <p:sp>
        <p:nvSpPr>
          <p:cNvPr id="18" name="17 Slayt Numarası Yer Tutucusu"/>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DB2931D2-2957-4B00-9B4F-9AE137966270}"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normAutofit fontScale="90000"/>
          </a:bodyPr>
          <a:lstStyle/>
          <a:p>
            <a:pPr algn="ctr"/>
            <a:r>
              <a:rPr lang="tr-TR" b="1" dirty="0" smtClean="0"/>
              <a:t>YAZILI ANLATIM TÜRLERİ ŞİİR (manzume, nazım)</a:t>
            </a:r>
            <a:r>
              <a:rPr lang="tr-TR" dirty="0"/>
              <a:t/>
            </a:r>
            <a:br>
              <a:rPr lang="tr-TR" dirty="0"/>
            </a:br>
            <a:endParaRPr lang="tr-TR" dirty="0"/>
          </a:p>
        </p:txBody>
      </p:sp>
      <p:sp>
        <p:nvSpPr>
          <p:cNvPr id="3" name="2 Alt Başlık"/>
          <p:cNvSpPr>
            <a:spLocks noGrp="1"/>
          </p:cNvSpPr>
          <p:nvPr>
            <p:ph type="subTitle" idx="1"/>
          </p:nvPr>
        </p:nvSpPr>
        <p:spPr/>
        <p:txBody>
          <a:bodyPr/>
          <a:lstStyle/>
          <a:p>
            <a:r>
              <a:rPr lang="tr-TR" dirty="0" err="1" smtClean="0"/>
              <a:t>Arzuhan</a:t>
            </a:r>
            <a:r>
              <a:rPr lang="tr-TR" dirty="0" smtClean="0"/>
              <a:t> Kocabaş</a:t>
            </a:r>
            <a:endParaRPr lang="tr-T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a:xfrm>
            <a:off x="457200" y="1124744"/>
            <a:ext cx="8229600" cy="4882547"/>
          </a:xfrm>
        </p:spPr>
        <p:txBody>
          <a:bodyPr>
            <a:normAutofit fontScale="55000" lnSpcReduction="20000"/>
          </a:bodyPr>
          <a:lstStyle/>
          <a:p>
            <a:pPr>
              <a:lnSpc>
                <a:spcPct val="107000"/>
              </a:lnSpc>
              <a:spcAft>
                <a:spcPts val="800"/>
              </a:spcAft>
            </a:pPr>
            <a:r>
              <a:rPr lang="tr-TR" sz="3200" b="1" dirty="0" smtClean="0">
                <a:latin typeface="Calibri" panose="020F0502020204030204" pitchFamily="34" charset="0"/>
                <a:ea typeface="Calibri" panose="020F0502020204030204" pitchFamily="34" charset="0"/>
                <a:cs typeface="Times New Roman" panose="02020603050405020304" pitchFamily="18" charset="0"/>
              </a:rPr>
              <a:t>A</a:t>
            </a:r>
            <a:r>
              <a:rPr lang="tr-TR" sz="4400" b="1" u="sng" dirty="0">
                <a:latin typeface="Calibri" panose="020F0502020204030204" pitchFamily="34" charset="0"/>
                <a:ea typeface="Calibri" panose="020F0502020204030204" pitchFamily="34" charset="0"/>
                <a:cs typeface="Times New Roman" panose="02020603050405020304" pitchFamily="18" charset="0"/>
              </a:rPr>
              <a:t>. Duygu ağırlıklı yazılar</a:t>
            </a:r>
            <a:r>
              <a:rPr lang="tr-TR" sz="3200" b="1" dirty="0">
                <a:latin typeface="Calibri" panose="020F0502020204030204" pitchFamily="34" charset="0"/>
                <a:ea typeface="Calibri" panose="020F0502020204030204" pitchFamily="34" charset="0"/>
                <a:cs typeface="Times New Roman" panose="02020603050405020304" pitchFamily="18" charset="0"/>
              </a:rPr>
              <a:t>:</a:t>
            </a:r>
            <a:endParaRPr lang="tr-TR" sz="32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3800" b="1" dirty="0">
                <a:latin typeface="Calibri" panose="020F0502020204030204" pitchFamily="34" charset="0"/>
                <a:ea typeface="Calibri" panose="020F0502020204030204" pitchFamily="34" charset="0"/>
                <a:cs typeface="Times New Roman" panose="02020603050405020304" pitchFamily="18" charset="0"/>
              </a:rPr>
              <a:t>1.Şiir, şiir türleri</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3800" b="1" dirty="0">
                <a:latin typeface="Calibri" panose="020F0502020204030204" pitchFamily="34" charset="0"/>
                <a:ea typeface="Calibri" panose="020F0502020204030204" pitchFamily="34" charset="0"/>
                <a:cs typeface="Times New Roman" panose="02020603050405020304" pitchFamily="18" charset="0"/>
              </a:rPr>
              <a:t>B. </a:t>
            </a:r>
            <a:r>
              <a:rPr lang="tr-TR" sz="3800" b="1" u="sng" dirty="0">
                <a:latin typeface="Calibri" panose="020F0502020204030204" pitchFamily="34" charset="0"/>
                <a:ea typeface="Calibri" panose="020F0502020204030204" pitchFamily="34" charset="0"/>
                <a:cs typeface="Times New Roman" panose="02020603050405020304" pitchFamily="18" charset="0"/>
              </a:rPr>
              <a:t>Olay ağırlıklı yazılar:</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3800" b="1" dirty="0">
                <a:latin typeface="Calibri" panose="020F0502020204030204" pitchFamily="34" charset="0"/>
                <a:ea typeface="Calibri" panose="020F0502020204030204" pitchFamily="34" charset="0"/>
                <a:cs typeface="Times New Roman" panose="02020603050405020304" pitchFamily="18" charset="0"/>
              </a:rPr>
              <a:t>2.Roman, roman türleri</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3800" b="1" dirty="0">
                <a:latin typeface="Calibri" panose="020F0502020204030204" pitchFamily="34" charset="0"/>
                <a:ea typeface="Calibri" panose="020F0502020204030204" pitchFamily="34" charset="0"/>
                <a:cs typeface="Times New Roman" panose="02020603050405020304" pitchFamily="18" charset="0"/>
              </a:rPr>
              <a:t>3.Hikâye</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3800" b="1" dirty="0">
                <a:latin typeface="Calibri" panose="020F0502020204030204" pitchFamily="34" charset="0"/>
                <a:ea typeface="Calibri" panose="020F0502020204030204" pitchFamily="34" charset="0"/>
                <a:cs typeface="Times New Roman" panose="02020603050405020304" pitchFamily="18" charset="0"/>
              </a:rPr>
              <a:t>4.Tiyatro </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3800" b="1" dirty="0">
                <a:latin typeface="Calibri" panose="020F0502020204030204" pitchFamily="34" charset="0"/>
                <a:ea typeface="Calibri" panose="020F0502020204030204" pitchFamily="34" charset="0"/>
                <a:cs typeface="Times New Roman" panose="02020603050405020304" pitchFamily="18" charset="0"/>
              </a:rPr>
              <a:t>5.Fabl</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3800" b="1" dirty="0">
                <a:latin typeface="Calibri" panose="020F0502020204030204" pitchFamily="34" charset="0"/>
                <a:ea typeface="Calibri" panose="020F0502020204030204" pitchFamily="34" charset="0"/>
                <a:cs typeface="Times New Roman" panose="02020603050405020304" pitchFamily="18" charset="0"/>
              </a:rPr>
              <a:t>6.Masal</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3800" b="1" dirty="0">
                <a:latin typeface="Calibri" panose="020F0502020204030204" pitchFamily="34" charset="0"/>
                <a:ea typeface="Calibri" panose="020F0502020204030204" pitchFamily="34" charset="0"/>
                <a:cs typeface="Times New Roman" panose="02020603050405020304" pitchFamily="18" charset="0"/>
              </a:rPr>
              <a:t>7.Biyografi, otobiyografi</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3800" b="1" dirty="0">
                <a:latin typeface="Calibri" panose="020F0502020204030204" pitchFamily="34" charset="0"/>
                <a:ea typeface="Calibri" panose="020F0502020204030204" pitchFamily="34" charset="0"/>
                <a:cs typeface="Times New Roman" panose="02020603050405020304" pitchFamily="18" charset="0"/>
              </a:rPr>
              <a:t>8.Gezi yazısı</a:t>
            </a:r>
            <a:endParaRPr lang="tr-TR" sz="3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4400" b="1" dirty="0">
                <a:latin typeface="Calibri" panose="020F0502020204030204" pitchFamily="34" charset="0"/>
                <a:ea typeface="Calibri" panose="020F0502020204030204" pitchFamily="34" charset="0"/>
                <a:cs typeface="Times New Roman" panose="02020603050405020304" pitchFamily="18" charset="0"/>
              </a:rPr>
              <a:t>9.Anı</a:t>
            </a:r>
            <a:endParaRPr lang="tr-TR" sz="4400" dirty="0">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
        <p:nvSpPr>
          <p:cNvPr id="3" name="Unvan 2"/>
          <p:cNvSpPr>
            <a:spLocks noGrp="1"/>
          </p:cNvSpPr>
          <p:nvPr>
            <p:ph type="title"/>
          </p:nvPr>
        </p:nvSpPr>
        <p:spPr/>
        <p:txBody>
          <a:bodyPr>
            <a:normAutofit fontScale="90000"/>
          </a:bodyPr>
          <a:lstStyle/>
          <a:p>
            <a:r>
              <a:rPr lang="tr-TR" sz="4400" dirty="0">
                <a:latin typeface="Calibri" panose="020F0502020204030204" pitchFamily="34" charset="0"/>
                <a:ea typeface="Calibri" panose="020F0502020204030204" pitchFamily="34" charset="0"/>
                <a:cs typeface="Times New Roman" panose="02020603050405020304" pitchFamily="18" charset="0"/>
              </a:rPr>
              <a:t>YAZILI ANLATIM TÜRLERİ</a:t>
            </a:r>
            <a:r>
              <a:rPr lang="tr-TR" sz="2400" dirty="0">
                <a:latin typeface="Calibri" panose="020F0502020204030204" pitchFamily="34" charset="0"/>
                <a:ea typeface="Calibri" panose="020F0502020204030204" pitchFamily="34" charset="0"/>
                <a:cs typeface="Times New Roman" panose="02020603050405020304" pitchFamily="18" charset="0"/>
              </a:rPr>
              <a:t/>
            </a:r>
            <a:br>
              <a:rPr lang="tr-TR" sz="2400" dirty="0">
                <a:latin typeface="Calibri" panose="020F0502020204030204" pitchFamily="34" charset="0"/>
                <a:ea typeface="Calibri" panose="020F0502020204030204" pitchFamily="34" charset="0"/>
                <a:cs typeface="Times New Roman" panose="02020603050405020304" pitchFamily="18" charset="0"/>
              </a:rPr>
            </a:br>
            <a:endParaRPr lang="tr-TR" dirty="0"/>
          </a:p>
        </p:txBody>
      </p:sp>
    </p:spTree>
    <p:extLst>
      <p:ext uri="{BB962C8B-B14F-4D97-AF65-F5344CB8AC3E}">
        <p14:creationId xmlns:p14="http://schemas.microsoft.com/office/powerpoint/2010/main" val="98675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Autofit/>
          </a:bodyPr>
          <a:lstStyle/>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C. </a:t>
            </a:r>
            <a:r>
              <a:rPr lang="tr-TR" sz="2400" b="1" u="sng" dirty="0">
                <a:latin typeface="Calibri" panose="020F0502020204030204" pitchFamily="34" charset="0"/>
                <a:ea typeface="Calibri" panose="020F0502020204030204" pitchFamily="34" charset="0"/>
                <a:cs typeface="Times New Roman" panose="02020603050405020304" pitchFamily="18" charset="0"/>
              </a:rPr>
              <a:t>Düşünce yazıları:</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10.Makale</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11. Deneme</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12. Fıkra</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13.Söyleşi</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15. Eleştiri</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16.Günlük</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 </a:t>
            </a:r>
            <a:r>
              <a:rPr lang="tr-TR" sz="2400" b="1" dirty="0" smtClean="0">
                <a:latin typeface="Calibri" panose="020F0502020204030204" pitchFamily="34" charset="0"/>
                <a:ea typeface="Calibri" panose="020F0502020204030204" pitchFamily="34" charset="0"/>
                <a:cs typeface="Times New Roman" panose="02020603050405020304" pitchFamily="18" charset="0"/>
              </a:rPr>
              <a:t>17</a:t>
            </a:r>
            <a:r>
              <a:rPr lang="tr-TR" sz="2400" b="1" dirty="0">
                <a:latin typeface="Calibri" panose="020F0502020204030204" pitchFamily="34" charset="0"/>
                <a:ea typeface="Calibri" panose="020F0502020204030204" pitchFamily="34" charset="0"/>
                <a:cs typeface="Times New Roman" panose="02020603050405020304" pitchFamily="18" charset="0"/>
              </a:rPr>
              <a:t>. Mektup	</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571625" algn="l"/>
              </a:tabLst>
            </a:pPr>
            <a:r>
              <a:rPr lang="tr-TR" sz="2400" b="1" dirty="0">
                <a:latin typeface="Calibri" panose="020F0502020204030204" pitchFamily="34" charset="0"/>
                <a:ea typeface="Calibri" panose="020F0502020204030204" pitchFamily="34" charset="0"/>
                <a:cs typeface="Times New Roman" panose="02020603050405020304" pitchFamily="18" charset="0"/>
              </a:rPr>
              <a:t> </a:t>
            </a:r>
            <a:endParaRPr lang="tr-TR" sz="2400" dirty="0">
              <a:latin typeface="Calibri" panose="020F0502020204030204" pitchFamily="34" charset="0"/>
              <a:ea typeface="Calibri" panose="020F0502020204030204" pitchFamily="34" charset="0"/>
              <a:cs typeface="Times New Roman" panose="02020603050405020304" pitchFamily="18" charset="0"/>
            </a:endParaRPr>
          </a:p>
          <a:p>
            <a:endParaRPr lang="tr-TR" sz="2400"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4072214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lvl="0">
              <a:lnSpc>
                <a:spcPct val="107000"/>
              </a:lnSpc>
              <a:spcAft>
                <a:spcPts val="800"/>
              </a:spcAft>
              <a:buClr>
                <a:srgbClr val="2DA2BF"/>
              </a:buClr>
              <a:tabLst>
                <a:tab pos="1943100" algn="l"/>
              </a:tabLst>
            </a:pPr>
            <a:r>
              <a:rPr lang="tr-TR" sz="24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D. İnceleme yazıları</a:t>
            </a:r>
            <a:endParaRPr lang="tr-TR"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Clr>
                <a:srgbClr val="2DA2BF"/>
              </a:buClr>
              <a:tabLst>
                <a:tab pos="1943100" algn="l"/>
              </a:tabLst>
            </a:pPr>
            <a:r>
              <a:rPr lang="tr-TR" sz="24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18. Röportaj</a:t>
            </a:r>
            <a:endParaRPr lang="tr-TR" sz="24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2297459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a:bodyPr>
          <a:lstStyle/>
          <a:p>
            <a:r>
              <a:rPr lang="tr-TR" dirty="0" smtClean="0">
                <a:latin typeface="Times New Roman" panose="02020603050405020304" pitchFamily="18" charset="0"/>
                <a:cs typeface="Times New Roman" panose="02020603050405020304" pitchFamily="18" charset="0"/>
              </a:rPr>
              <a:t>Pek çok edebiyat tarihçisine göre bütün anlatım türlerinin kaynağı şiirdir. Şiir</a:t>
            </a:r>
            <a:r>
              <a:rPr lang="tr-TR" dirty="0">
                <a:latin typeface="Times New Roman" panose="02020603050405020304" pitchFamily="18" charset="0"/>
                <a:cs typeface="Times New Roman" panose="02020603050405020304" pitchFamily="18" charset="0"/>
              </a:rPr>
              <a:t>, en eski edebiyat türüdür. Her ulusta sanat amacıyla, ilkin şiir söylenmiş; nesir ancak yazının bulunmasından sonra sanat alanına girmiştir. </a:t>
            </a:r>
          </a:p>
          <a:p>
            <a:endParaRPr lang="tr-TR" dirty="0">
              <a:latin typeface="Times New Roman" panose="02020603050405020304" pitchFamily="18" charset="0"/>
              <a:cs typeface="Times New Roman" panose="02020603050405020304" pitchFamily="18" charset="0"/>
            </a:endParaRPr>
          </a:p>
        </p:txBody>
      </p:sp>
      <p:sp>
        <p:nvSpPr>
          <p:cNvPr id="2" name="1 Başlık"/>
          <p:cNvSpPr>
            <a:spLocks noGrp="1"/>
          </p:cNvSpPr>
          <p:nvPr>
            <p:ph type="title"/>
          </p:nvPr>
        </p:nvSpPr>
        <p:spPr/>
        <p:txBody>
          <a:bodyPr/>
          <a:lstStyle/>
          <a:p>
            <a:r>
              <a:rPr lang="tr-TR" dirty="0" smtClean="0"/>
              <a:t>ŞİİR</a:t>
            </a:r>
            <a:endParaRPr lang="tr-T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lvl="0">
              <a:buClr>
                <a:srgbClr val="2DA2BF"/>
              </a:buClr>
            </a:pPr>
            <a:r>
              <a:rPr lang="tr-TR" sz="2500" dirty="0">
                <a:solidFill>
                  <a:prstClr val="black"/>
                </a:solidFill>
              </a:rPr>
              <a:t>Bugüne kadar şiir üzerine binlerce söz üretilmiş; ancak bunlardan hiçbiri şiirin kesin tanımı olarak kabul edilmemiştir. Kesin ve değişmez olmasa bile şiiri, özelliklerini yansıtacak şekilde tarif edebiliriz. Duygu ve düşüncelerin, insan ruhunda ürpertiler uyandıracak biçimde ölçülü-ölçüsüz, kafiyeli-kafiyesiz olarak genellikle nazım halinde anlatılan şekline şiir denir.</a:t>
            </a: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229191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92500" lnSpcReduction="10000"/>
          </a:bodyPr>
          <a:lstStyle/>
          <a:p>
            <a:r>
              <a:rPr lang="tr-TR" dirty="0">
                <a:solidFill>
                  <a:srgbClr val="292727"/>
                </a:solidFill>
                <a:latin typeface="tahoma" panose="020B0604030504040204" pitchFamily="34" charset="0"/>
              </a:rPr>
              <a:t>Hani erken inerdi karanlık,</a:t>
            </a:r>
            <a:r>
              <a:rPr lang="tr-TR" dirty="0"/>
              <a:t/>
            </a:r>
            <a:br>
              <a:rPr lang="tr-TR" dirty="0"/>
            </a:br>
            <a:r>
              <a:rPr lang="tr-TR" dirty="0">
                <a:solidFill>
                  <a:srgbClr val="292727"/>
                </a:solidFill>
                <a:latin typeface="tahoma" panose="020B0604030504040204" pitchFamily="34" charset="0"/>
              </a:rPr>
              <a:t>Hani yağmur yağardı inceden,</a:t>
            </a:r>
            <a:r>
              <a:rPr lang="tr-TR" dirty="0"/>
              <a:t/>
            </a:r>
            <a:br>
              <a:rPr lang="tr-TR" dirty="0"/>
            </a:br>
            <a:r>
              <a:rPr lang="tr-TR" dirty="0">
                <a:solidFill>
                  <a:srgbClr val="292727"/>
                </a:solidFill>
                <a:latin typeface="tahoma" panose="020B0604030504040204" pitchFamily="34" charset="0"/>
              </a:rPr>
              <a:t>Hani okuldan, işten dönerken,</a:t>
            </a:r>
            <a:r>
              <a:rPr lang="tr-TR" dirty="0"/>
              <a:t/>
            </a:r>
            <a:br>
              <a:rPr lang="tr-TR" dirty="0"/>
            </a:br>
            <a:r>
              <a:rPr lang="tr-TR" dirty="0">
                <a:solidFill>
                  <a:srgbClr val="292727"/>
                </a:solidFill>
                <a:latin typeface="tahoma" panose="020B0604030504040204" pitchFamily="34" charset="0"/>
              </a:rPr>
              <a:t>Işıklar yanardı evlerde,</a:t>
            </a:r>
            <a:r>
              <a:rPr lang="tr-TR" dirty="0"/>
              <a:t/>
            </a:r>
            <a:br>
              <a:rPr lang="tr-TR" dirty="0"/>
            </a:br>
            <a:r>
              <a:rPr lang="tr-TR" dirty="0">
                <a:solidFill>
                  <a:srgbClr val="292727"/>
                </a:solidFill>
                <a:latin typeface="tahoma" panose="020B0604030504040204" pitchFamily="34" charset="0"/>
              </a:rPr>
              <a:t>Eskidendi, çok eskiden.</a:t>
            </a:r>
            <a:r>
              <a:rPr lang="tr-TR" dirty="0"/>
              <a:t/>
            </a:r>
            <a:br>
              <a:rPr lang="tr-TR" dirty="0"/>
            </a:br>
            <a:r>
              <a:rPr lang="tr-TR" dirty="0"/>
              <a:t/>
            </a:r>
            <a:br>
              <a:rPr lang="tr-TR" dirty="0"/>
            </a:br>
            <a:r>
              <a:rPr lang="tr-TR" dirty="0">
                <a:solidFill>
                  <a:srgbClr val="292727"/>
                </a:solidFill>
                <a:latin typeface="tahoma" panose="020B0604030504040204" pitchFamily="34" charset="0"/>
              </a:rPr>
              <a:t>Hani ay herkese gülümserken,</a:t>
            </a:r>
            <a:r>
              <a:rPr lang="tr-TR" dirty="0"/>
              <a:t/>
            </a:r>
            <a:br>
              <a:rPr lang="tr-TR" dirty="0"/>
            </a:br>
            <a:r>
              <a:rPr lang="tr-TR" dirty="0">
                <a:solidFill>
                  <a:srgbClr val="292727"/>
                </a:solidFill>
                <a:latin typeface="tahoma" panose="020B0604030504040204" pitchFamily="34" charset="0"/>
              </a:rPr>
              <a:t>Mevsimler kimseyi dinlemezken...</a:t>
            </a:r>
            <a:r>
              <a:rPr lang="tr-TR" dirty="0"/>
              <a:t/>
            </a:r>
            <a:br>
              <a:rPr lang="tr-TR" dirty="0"/>
            </a:br>
            <a:r>
              <a:rPr lang="tr-TR" dirty="0">
                <a:solidFill>
                  <a:srgbClr val="292727"/>
                </a:solidFill>
                <a:latin typeface="tahoma" panose="020B0604030504040204" pitchFamily="34" charset="0"/>
              </a:rPr>
              <a:t>Hani çocuklar gibi zaman nedir bilmezken,</a:t>
            </a:r>
            <a:r>
              <a:rPr lang="tr-TR" dirty="0"/>
              <a:t/>
            </a:r>
            <a:br>
              <a:rPr lang="tr-TR" dirty="0"/>
            </a:br>
            <a:r>
              <a:rPr lang="tr-TR" dirty="0">
                <a:solidFill>
                  <a:srgbClr val="292727"/>
                </a:solidFill>
                <a:latin typeface="tahoma" panose="020B0604030504040204" pitchFamily="34" charset="0"/>
              </a:rPr>
              <a:t>Eskidendi, çok eskiden.</a:t>
            </a:r>
            <a:r>
              <a:rPr lang="tr-TR" dirty="0"/>
              <a:t/>
            </a:r>
            <a:br>
              <a:rPr lang="tr-TR" dirty="0"/>
            </a:br>
            <a:r>
              <a:rPr lang="tr-TR" dirty="0"/>
              <a:t/>
            </a:r>
            <a:br>
              <a:rPr lang="tr-TR" dirty="0"/>
            </a:br>
            <a:endParaRPr lang="tr-TR" dirty="0" smtClean="0"/>
          </a:p>
          <a:p>
            <a:endParaRPr lang="tr-TR" dirty="0"/>
          </a:p>
        </p:txBody>
      </p:sp>
      <p:sp>
        <p:nvSpPr>
          <p:cNvPr id="3" name="Unvan 2"/>
          <p:cNvSpPr>
            <a:spLocks noGrp="1"/>
          </p:cNvSpPr>
          <p:nvPr>
            <p:ph type="title"/>
          </p:nvPr>
        </p:nvSpPr>
        <p:spPr/>
        <p:txBody>
          <a:bodyPr>
            <a:normAutofit fontScale="90000"/>
          </a:bodyPr>
          <a:lstStyle/>
          <a:p>
            <a:r>
              <a:rPr lang="tr-TR" dirty="0" err="1" smtClean="0"/>
              <a:t>Muathan</a:t>
            </a:r>
            <a:r>
              <a:rPr lang="tr-TR" dirty="0" smtClean="0"/>
              <a:t> Mungan «Eskidendi Çok Eskiden»</a:t>
            </a:r>
            <a:endParaRPr lang="tr-TR" dirty="0"/>
          </a:p>
        </p:txBody>
      </p:sp>
    </p:spTree>
    <p:extLst>
      <p:ext uri="{BB962C8B-B14F-4D97-AF65-F5344CB8AC3E}">
        <p14:creationId xmlns:p14="http://schemas.microsoft.com/office/powerpoint/2010/main" val="395715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Autofit/>
          </a:bodyPr>
          <a:lstStyle/>
          <a:p>
            <a:pPr lvl="0">
              <a:buClr>
                <a:srgbClr val="2DA2BF"/>
              </a:buClr>
            </a:pPr>
            <a:r>
              <a:rPr lang="tr-TR" sz="2400" dirty="0">
                <a:solidFill>
                  <a:srgbClr val="292727"/>
                </a:solidFill>
                <a:latin typeface="tahoma" panose="020B0604030504040204" pitchFamily="34" charset="0"/>
              </a:rPr>
              <a:t>Hani hepimiz arkadaşken,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Hani oyunlar tükenmemişken,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Henüz kimse bize ihanet etmemiş,</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Biz kimseyi aldatmamışken,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Eskidendi, çok eskiden.</a:t>
            </a:r>
            <a:r>
              <a:rPr lang="tr-TR" sz="2400" dirty="0">
                <a:solidFill>
                  <a:prstClr val="black"/>
                </a:solidFill>
              </a:rPr>
              <a:t/>
            </a:r>
            <a:br>
              <a:rPr lang="tr-TR" sz="2400" dirty="0">
                <a:solidFill>
                  <a:prstClr val="black"/>
                </a:solidFill>
              </a:rPr>
            </a:b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Hani şarkılar bizi bu kadar incitmezken,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Hani körkütük sarhoşken gençliğimizden,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Daha biz kimseye </a:t>
            </a:r>
            <a:r>
              <a:rPr lang="tr-TR" sz="2400" dirty="0" smtClean="0">
                <a:solidFill>
                  <a:srgbClr val="292727"/>
                </a:solidFill>
                <a:latin typeface="tahoma" panose="020B0604030504040204" pitchFamily="34" charset="0"/>
              </a:rPr>
              <a:t>küsmemiş</a:t>
            </a:r>
            <a:r>
              <a:rPr lang="tr-TR" sz="2400" dirty="0">
                <a:solidFill>
                  <a:srgbClr val="292727"/>
                </a:solidFill>
                <a:latin typeface="tahoma" panose="020B0604030504040204" pitchFamily="34" charset="0"/>
              </a:rPr>
              <a:t>,</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Daha kimse ölmemişken,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Eskidendi, çok eskiden.</a:t>
            </a:r>
            <a:r>
              <a:rPr lang="tr-TR" sz="2400" dirty="0">
                <a:solidFill>
                  <a:prstClr val="black"/>
                </a:solidFill>
              </a:rPr>
              <a:t/>
            </a:r>
            <a:br>
              <a:rPr lang="tr-TR" sz="2400" dirty="0">
                <a:solidFill>
                  <a:prstClr val="black"/>
                </a:solidFill>
              </a:rPr>
            </a:br>
            <a:r>
              <a:rPr lang="tr-TR" sz="2400" dirty="0">
                <a:solidFill>
                  <a:prstClr val="black"/>
                </a:solidFill>
              </a:rPr>
              <a:t/>
            </a:r>
            <a:br>
              <a:rPr lang="tr-TR" sz="2400" dirty="0">
                <a:solidFill>
                  <a:prstClr val="black"/>
                </a:solidFill>
              </a:rPr>
            </a:br>
            <a:endParaRPr lang="tr-TR" sz="2400"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705908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a:xfrm>
            <a:off x="438964" y="1700808"/>
            <a:ext cx="8229600" cy="4525963"/>
          </a:xfrm>
        </p:spPr>
        <p:txBody>
          <a:bodyPr/>
          <a:lstStyle/>
          <a:p>
            <a:pPr lvl="0">
              <a:buClr>
                <a:srgbClr val="2DA2BF"/>
              </a:buClr>
            </a:pPr>
            <a:r>
              <a:rPr lang="tr-TR" sz="2400" dirty="0">
                <a:solidFill>
                  <a:srgbClr val="292727"/>
                </a:solidFill>
                <a:latin typeface="tahoma" panose="020B0604030504040204" pitchFamily="34" charset="0"/>
              </a:rPr>
              <a:t>Şimdi ay usul, yıldızlar eski</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Hatıralar gökyüzü gibi gitmiyor üstümüzden</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Geçen geçti,</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Geçen geçti,</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Geceyi söndür kalbim</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Geceler de gençlik gibi eskidendi</a:t>
            </a:r>
            <a:r>
              <a:rPr lang="tr-TR" sz="2400" dirty="0">
                <a:solidFill>
                  <a:prstClr val="black"/>
                </a:solidFill>
              </a:rPr>
              <a:t/>
            </a:r>
            <a:br>
              <a:rPr lang="tr-TR" sz="2400" dirty="0">
                <a:solidFill>
                  <a:prstClr val="black"/>
                </a:solidFill>
              </a:rPr>
            </a:br>
            <a:r>
              <a:rPr lang="tr-TR" sz="2400" dirty="0">
                <a:solidFill>
                  <a:srgbClr val="292727"/>
                </a:solidFill>
                <a:latin typeface="tahoma" panose="020B0604030504040204" pitchFamily="34" charset="0"/>
              </a:rPr>
              <a:t>Şimdi uykusuzluk vakti.</a:t>
            </a:r>
            <a:r>
              <a:rPr lang="tr-TR" sz="2400" dirty="0">
                <a:solidFill>
                  <a:prstClr val="black"/>
                </a:solidFill>
              </a:rPr>
              <a:t/>
            </a:r>
            <a:br>
              <a:rPr lang="tr-TR" sz="2400" dirty="0">
                <a:solidFill>
                  <a:prstClr val="black"/>
                </a:solidFill>
              </a:rPr>
            </a:br>
            <a:endParaRPr lang="tr-TR" sz="2400" dirty="0">
              <a:solidFill>
                <a:prstClr val="black"/>
              </a:solidFill>
            </a:endParaRP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088103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lnSpcReduction="10000"/>
          </a:bodyPr>
          <a:lstStyle/>
          <a:p>
            <a:pPr lvl="0">
              <a:buClr>
                <a:srgbClr val="2DA2BF"/>
              </a:buClr>
            </a:pPr>
            <a:r>
              <a:rPr lang="tr-TR" sz="2800" dirty="0">
                <a:solidFill>
                  <a:prstClr val="black"/>
                </a:solidFill>
                <a:latin typeface="TimesNewRomanPSMT"/>
              </a:rPr>
              <a:t>Şiirin farklı ve orijinal tanımlarından birisini de Abdülhak Hamit Tarhan yapmıştır: “En güzel en büyük, en doğru şi</a:t>
            </a:r>
            <a:r>
              <a:rPr lang="tr-TR" sz="2800" dirty="0">
                <a:solidFill>
                  <a:prstClr val="black"/>
                </a:solidFill>
                <a:latin typeface="Times New Roman" panose="02020603050405020304" pitchFamily="18" charset="0"/>
              </a:rPr>
              <a:t>ir, bir hakikat-</a:t>
            </a:r>
            <a:r>
              <a:rPr lang="tr-TR" sz="2800" dirty="0">
                <a:solidFill>
                  <a:prstClr val="black"/>
                </a:solidFill>
                <a:latin typeface="TimesNewRomanPSMT"/>
              </a:rPr>
              <a:t>i </a:t>
            </a:r>
            <a:r>
              <a:rPr lang="tr-TR" sz="2800" dirty="0" err="1">
                <a:solidFill>
                  <a:prstClr val="black"/>
                </a:solidFill>
                <a:latin typeface="TimesNewRomanPSMT"/>
              </a:rPr>
              <a:t>müdhişenin</a:t>
            </a:r>
            <a:r>
              <a:rPr lang="tr-TR" sz="2800" dirty="0">
                <a:solidFill>
                  <a:prstClr val="black"/>
                </a:solidFill>
                <a:latin typeface="TimesNewRomanPSMT"/>
              </a:rPr>
              <a:t> tazyiki altında hiçbir şey söylememektir. İnsan</a:t>
            </a:r>
          </a:p>
          <a:p>
            <a:pPr lvl="0">
              <a:buClr>
                <a:srgbClr val="2DA2BF"/>
              </a:buClr>
            </a:pPr>
            <a:r>
              <a:rPr lang="tr-TR" sz="2800" dirty="0">
                <a:solidFill>
                  <a:prstClr val="black"/>
                </a:solidFill>
                <a:latin typeface="TimesNewRomanPSMT"/>
              </a:rPr>
              <a:t>bazı kere hatırına gelen bir hayali tanıyamaz, o kadar güzeldir. Zihninden uçan bir </a:t>
            </a:r>
            <a:r>
              <a:rPr lang="tr-TR" sz="2800" dirty="0" smtClean="0">
                <a:solidFill>
                  <a:prstClr val="black"/>
                </a:solidFill>
                <a:latin typeface="TimesNewRomanPSMT"/>
              </a:rPr>
              <a:t>fikre yetişemez</a:t>
            </a:r>
            <a:r>
              <a:rPr lang="tr-TR" sz="2800" dirty="0">
                <a:solidFill>
                  <a:prstClr val="black"/>
                </a:solidFill>
                <a:latin typeface="TimesNewRomanPSMT"/>
              </a:rPr>
              <a:t>, o kadar yüksektir. Kalbinde doğan bir hissi bulamaz, o kadar derindir. Bu </a:t>
            </a:r>
            <a:r>
              <a:rPr lang="tr-TR" sz="2800" dirty="0" err="1">
                <a:solidFill>
                  <a:prstClr val="black"/>
                </a:solidFill>
                <a:latin typeface="TimesNewRomanPSMT"/>
              </a:rPr>
              <a:t>acz</a:t>
            </a:r>
            <a:r>
              <a:rPr lang="tr-TR" sz="2800" dirty="0">
                <a:solidFill>
                  <a:prstClr val="black"/>
                </a:solidFill>
                <a:latin typeface="TimesNewRomanPSMT"/>
              </a:rPr>
              <a:t> </a:t>
            </a:r>
            <a:r>
              <a:rPr lang="tr-TR" sz="2800" dirty="0">
                <a:solidFill>
                  <a:prstClr val="black"/>
                </a:solidFill>
                <a:latin typeface="Times New Roman" panose="02020603050405020304" pitchFamily="18" charset="0"/>
              </a:rPr>
              <a:t>ile </a:t>
            </a:r>
            <a:r>
              <a:rPr lang="tr-TR" sz="2800" dirty="0" smtClean="0">
                <a:solidFill>
                  <a:prstClr val="black"/>
                </a:solidFill>
                <a:latin typeface="Times New Roman" panose="02020603050405020304" pitchFamily="18" charset="0"/>
              </a:rPr>
              <a:t>bir </a:t>
            </a:r>
            <a:r>
              <a:rPr lang="tr-TR" sz="2800" dirty="0" smtClean="0">
                <a:solidFill>
                  <a:prstClr val="black"/>
                </a:solidFill>
                <a:latin typeface="TimesNewRomanPSMT"/>
              </a:rPr>
              <a:t>feryat </a:t>
            </a:r>
            <a:r>
              <a:rPr lang="tr-TR" sz="2800" dirty="0">
                <a:solidFill>
                  <a:prstClr val="black"/>
                </a:solidFill>
                <a:latin typeface="TimesNewRomanPSMT"/>
              </a:rPr>
              <a:t>koparır, yahut pek karanlık bir şey söyler, yahut hiçbir şey söylemez de kalemini ayağının</a:t>
            </a:r>
          </a:p>
          <a:p>
            <a:pPr lvl="0">
              <a:buClr>
                <a:srgbClr val="2DA2BF"/>
              </a:buClr>
            </a:pPr>
            <a:r>
              <a:rPr lang="tr-TR" sz="2800" dirty="0">
                <a:solidFill>
                  <a:prstClr val="black"/>
                </a:solidFill>
                <a:latin typeface="TimesNewRomanPSMT"/>
              </a:rPr>
              <a:t>altına alıp ezer, bunlar şiirdir</a:t>
            </a:r>
            <a:r>
              <a:rPr lang="tr-TR" sz="2800" dirty="0" smtClean="0">
                <a:solidFill>
                  <a:prstClr val="black"/>
                </a:solidFill>
                <a:latin typeface="TimesNewRomanPSMT"/>
              </a:rPr>
              <a:t>.”</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2563906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sz="2800" dirty="0">
                <a:latin typeface="TimesNewRomanPSMT"/>
              </a:rPr>
              <a:t>Doğan Aksan’a göre şiir gerek içerik ve öz, gerekse söze dönüştürme ve sunuluş</a:t>
            </a:r>
          </a:p>
          <a:p>
            <a:r>
              <a:rPr lang="tr-TR" sz="2800" dirty="0">
                <a:latin typeface="TimesNewRomanPSMT"/>
              </a:rPr>
              <a:t>açısından özgün, etkilemeye, duygulandırmaya yönelik, yaratı niteliği taşıyan bir söz sanatı</a:t>
            </a:r>
          </a:p>
          <a:p>
            <a:r>
              <a:rPr lang="tr-TR" sz="2800" dirty="0">
                <a:latin typeface="TimesNewRomanPSMT"/>
              </a:rPr>
              <a:t>ürünüdür. Ahmet Haşim ise şiiri “resullerin sözü” ne benzetmektedir. </a:t>
            </a:r>
            <a:r>
              <a:rPr lang="tr-TR" sz="2800" dirty="0" err="1">
                <a:latin typeface="TimesNewRomanPSMT"/>
              </a:rPr>
              <a:t>Mallarme</a:t>
            </a:r>
            <a:r>
              <a:rPr lang="tr-TR" sz="2800" dirty="0">
                <a:latin typeface="TimesNewRomanPSMT"/>
              </a:rPr>
              <a:t> şiir için:</a:t>
            </a:r>
          </a:p>
          <a:p>
            <a:r>
              <a:rPr lang="tr-TR" sz="2800" dirty="0">
                <a:latin typeface="TimesNewRomanPSMT"/>
              </a:rPr>
              <a:t>“Tesadüfün kelime </a:t>
            </a:r>
            <a:r>
              <a:rPr lang="tr-TR" sz="2800" dirty="0" err="1">
                <a:latin typeface="TimesNewRomanPSMT"/>
              </a:rPr>
              <a:t>kelime</a:t>
            </a:r>
            <a:r>
              <a:rPr lang="tr-TR" sz="2800" dirty="0">
                <a:latin typeface="TimesNewRomanPSMT"/>
              </a:rPr>
              <a:t> yenilmesidir.” demektedir. Necip Fazıl ise “esrarlı bir </a:t>
            </a:r>
            <a:r>
              <a:rPr lang="tr-TR" sz="2800" dirty="0" err="1">
                <a:latin typeface="TimesNewRomanPSMT"/>
              </a:rPr>
              <a:t>âhenk</a:t>
            </a:r>
            <a:r>
              <a:rPr lang="tr-TR" sz="2800" dirty="0">
                <a:latin typeface="TimesNewRomanPSMT"/>
              </a:rPr>
              <a:t> ve</a:t>
            </a:r>
          </a:p>
          <a:p>
            <a:r>
              <a:rPr lang="tr-TR" sz="2800" dirty="0" err="1">
                <a:latin typeface="TimesNewRomanPSMT"/>
              </a:rPr>
              <a:t>mânâ</a:t>
            </a:r>
            <a:r>
              <a:rPr lang="tr-TR" sz="2800" dirty="0">
                <a:latin typeface="TimesNewRomanPSMT"/>
              </a:rPr>
              <a:t> sentezi” olarak görmektedir şiiri.</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564665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Autofit/>
          </a:bodyPr>
          <a:lstStyle/>
          <a:p>
            <a:r>
              <a:rPr lang="tr-TR" sz="2800" dirty="0" smtClean="0">
                <a:solidFill>
                  <a:srgbClr val="585858"/>
                </a:solidFill>
                <a:latin typeface="Arial" panose="020B0604020202020204" pitchFamily="34" charset="0"/>
              </a:rPr>
              <a:t>Ben </a:t>
            </a:r>
            <a:r>
              <a:rPr lang="tr-TR" sz="2800" dirty="0">
                <a:solidFill>
                  <a:srgbClr val="585858"/>
                </a:solidFill>
                <a:latin typeface="Arial" panose="020B0604020202020204" pitchFamily="34" charset="0"/>
              </a:rPr>
              <a:t>bir Ayten’dir tutturmuşum</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Oh ne iyi</a:t>
            </a:r>
            <a:br>
              <a:rPr lang="tr-TR" sz="2800" dirty="0">
                <a:solidFill>
                  <a:srgbClr val="585858"/>
                </a:solidFill>
                <a:latin typeface="Arial" panose="020B0604020202020204" pitchFamily="34" charset="0"/>
              </a:rPr>
            </a:br>
            <a:r>
              <a:rPr lang="tr-TR" sz="2800" dirty="0" err="1" smtClean="0">
                <a:solidFill>
                  <a:srgbClr val="585858"/>
                </a:solidFill>
                <a:latin typeface="Arial" panose="020B0604020202020204" pitchFamily="34" charset="0"/>
              </a:rPr>
              <a:t>AytenIi</a:t>
            </a:r>
            <a:r>
              <a:rPr lang="tr-TR" sz="2800" dirty="0" smtClean="0">
                <a:solidFill>
                  <a:srgbClr val="585858"/>
                </a:solidFill>
                <a:latin typeface="Arial" panose="020B0604020202020204" pitchFamily="34" charset="0"/>
              </a:rPr>
              <a:t> </a:t>
            </a:r>
            <a:r>
              <a:rPr lang="tr-TR" sz="2800" dirty="0" err="1">
                <a:solidFill>
                  <a:srgbClr val="585858"/>
                </a:solidFill>
                <a:latin typeface="Arial" panose="020B0604020202020204" pitchFamily="34" charset="0"/>
              </a:rPr>
              <a:t>içkiIer</a:t>
            </a:r>
            <a:r>
              <a:rPr lang="tr-TR" sz="2800" dirty="0">
                <a:solidFill>
                  <a:srgbClr val="585858"/>
                </a:solidFill>
                <a:latin typeface="Arial" panose="020B0604020202020204" pitchFamily="34" charset="0"/>
              </a:rPr>
              <a:t> içip</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Sarhoş </a:t>
            </a:r>
            <a:r>
              <a:rPr lang="tr-TR" sz="2800" dirty="0" err="1">
                <a:solidFill>
                  <a:srgbClr val="585858"/>
                </a:solidFill>
                <a:latin typeface="Arial" panose="020B0604020202020204" pitchFamily="34" charset="0"/>
              </a:rPr>
              <a:t>oIuyorum</a:t>
            </a:r>
            <a:r>
              <a:rPr lang="tr-TR" sz="2800" dirty="0">
                <a:solidFill>
                  <a:srgbClr val="585858"/>
                </a:solidFill>
                <a:latin typeface="Arial" panose="020B0604020202020204" pitchFamily="34" charset="0"/>
              </a:rPr>
              <a:t> ne </a:t>
            </a:r>
            <a:r>
              <a:rPr lang="tr-TR" sz="2800" dirty="0" err="1">
                <a:solidFill>
                  <a:srgbClr val="585858"/>
                </a:solidFill>
                <a:latin typeface="Arial" panose="020B0604020202020204" pitchFamily="34" charset="0"/>
              </a:rPr>
              <a:t>güzeI</a:t>
            </a:r>
            <a:r>
              <a:rPr lang="tr-TR" sz="2800" dirty="0">
                <a:solidFill>
                  <a:srgbClr val="585858"/>
                </a:solidFill>
                <a:latin typeface="Arial" panose="020B0604020202020204" pitchFamily="34" charset="0"/>
              </a:rPr>
              <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Hoşuma gitmiyorsa rengi </a:t>
            </a:r>
            <a:r>
              <a:rPr lang="tr-TR" sz="2800" dirty="0" err="1">
                <a:solidFill>
                  <a:srgbClr val="585858"/>
                </a:solidFill>
                <a:latin typeface="Arial" panose="020B0604020202020204" pitchFamily="34" charset="0"/>
              </a:rPr>
              <a:t>denizIerin</a:t>
            </a:r>
            <a:r>
              <a:rPr lang="tr-TR" sz="2800" dirty="0">
                <a:solidFill>
                  <a:srgbClr val="585858"/>
                </a:solidFill>
                <a:latin typeface="Arial" panose="020B0604020202020204" pitchFamily="34" charset="0"/>
              </a:rPr>
              <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Biraz Ayten sürüyorum </a:t>
            </a:r>
            <a:r>
              <a:rPr lang="tr-TR" sz="2800" dirty="0" err="1">
                <a:solidFill>
                  <a:srgbClr val="585858"/>
                </a:solidFill>
                <a:latin typeface="Arial" panose="020B0604020202020204" pitchFamily="34" charset="0"/>
              </a:rPr>
              <a:t>güzeIIeşiyor</a:t>
            </a:r>
            <a:r>
              <a:rPr lang="tr-TR" sz="2800" dirty="0">
                <a:solidFill>
                  <a:srgbClr val="585858"/>
                </a:solidFill>
                <a:latin typeface="Arial" panose="020B0604020202020204" pitchFamily="34" charset="0"/>
              </a:rPr>
              <a:t/>
            </a:r>
            <a:br>
              <a:rPr lang="tr-TR" sz="2800" dirty="0">
                <a:solidFill>
                  <a:srgbClr val="585858"/>
                </a:solidFill>
                <a:latin typeface="Arial" panose="020B0604020202020204" pitchFamily="34" charset="0"/>
              </a:rPr>
            </a:br>
            <a:r>
              <a:rPr lang="tr-TR" sz="2800" dirty="0" err="1">
                <a:solidFill>
                  <a:srgbClr val="585858"/>
                </a:solidFill>
                <a:latin typeface="Arial" panose="020B0604020202020204" pitchFamily="34" charset="0"/>
              </a:rPr>
              <a:t>ŞarkıIar</a:t>
            </a:r>
            <a:r>
              <a:rPr lang="tr-TR" sz="2800" dirty="0">
                <a:solidFill>
                  <a:srgbClr val="585858"/>
                </a:solidFill>
                <a:latin typeface="Arial" panose="020B0604020202020204" pitchFamily="34" charset="0"/>
              </a:rPr>
              <a:t> </a:t>
            </a:r>
            <a:r>
              <a:rPr lang="tr-TR" sz="2800" dirty="0" err="1">
                <a:solidFill>
                  <a:srgbClr val="585858"/>
                </a:solidFill>
                <a:latin typeface="Arial" panose="020B0604020202020204" pitchFamily="34" charset="0"/>
              </a:rPr>
              <a:t>söyIüyorum</a:t>
            </a:r>
            <a:r>
              <a:rPr lang="tr-TR" sz="2800" dirty="0">
                <a:solidFill>
                  <a:srgbClr val="585858"/>
                </a:solidFill>
                <a:latin typeface="Arial" panose="020B0604020202020204" pitchFamily="34" charset="0"/>
              </a:rPr>
              <a:t> </a:t>
            </a:r>
            <a:endParaRPr lang="tr-TR" sz="2800" dirty="0" smtClean="0">
              <a:solidFill>
                <a:srgbClr val="585858"/>
              </a:solidFill>
              <a:latin typeface="Arial" panose="020B0604020202020204" pitchFamily="34" charset="0"/>
            </a:endParaRPr>
          </a:p>
          <a:p>
            <a:r>
              <a:rPr lang="tr-TR" sz="2800" dirty="0" err="1" smtClean="0">
                <a:solidFill>
                  <a:srgbClr val="585858"/>
                </a:solidFill>
                <a:latin typeface="Arial" panose="020B0604020202020204" pitchFamily="34" charset="0"/>
              </a:rPr>
              <a:t>ŞiirIer</a:t>
            </a:r>
            <a:r>
              <a:rPr lang="tr-TR" sz="2800" dirty="0" smtClean="0">
                <a:solidFill>
                  <a:srgbClr val="585858"/>
                </a:solidFill>
                <a:latin typeface="Arial" panose="020B0604020202020204" pitchFamily="34" charset="0"/>
              </a:rPr>
              <a:t> </a:t>
            </a:r>
            <a:r>
              <a:rPr lang="tr-TR" sz="2800" dirty="0">
                <a:solidFill>
                  <a:srgbClr val="585858"/>
                </a:solidFill>
                <a:latin typeface="Arial" panose="020B0604020202020204" pitchFamily="34" charset="0"/>
              </a:rPr>
              <a:t>yazıyorum</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Ayten üstüne</a:t>
            </a:r>
            <a:br>
              <a:rPr lang="tr-TR" sz="2800" dirty="0">
                <a:solidFill>
                  <a:srgbClr val="585858"/>
                </a:solidFill>
                <a:latin typeface="Arial" panose="020B0604020202020204" pitchFamily="34" charset="0"/>
              </a:rPr>
            </a:br>
            <a:endParaRPr lang="tr-TR" sz="2800" dirty="0"/>
          </a:p>
        </p:txBody>
      </p:sp>
      <p:sp>
        <p:nvSpPr>
          <p:cNvPr id="3" name="Unvan 2"/>
          <p:cNvSpPr>
            <a:spLocks noGrp="1"/>
          </p:cNvSpPr>
          <p:nvPr>
            <p:ph type="title"/>
          </p:nvPr>
        </p:nvSpPr>
        <p:spPr/>
        <p:txBody>
          <a:bodyPr>
            <a:normAutofit fontScale="90000"/>
          </a:bodyPr>
          <a:lstStyle/>
          <a:p>
            <a:r>
              <a:rPr lang="tr-TR" sz="4400" dirty="0">
                <a:solidFill>
                  <a:srgbClr val="585858"/>
                </a:solidFill>
                <a:latin typeface="Arial" panose="020B0604020202020204" pitchFamily="34" charset="0"/>
              </a:rPr>
              <a:t>Milyon Kere Ayten – Ümit Yaşar Oğuzcan</a:t>
            </a:r>
            <a:br>
              <a:rPr lang="tr-TR" sz="4400" dirty="0">
                <a:solidFill>
                  <a:srgbClr val="585858"/>
                </a:solidFill>
                <a:latin typeface="Arial" panose="020B0604020202020204" pitchFamily="34" charset="0"/>
              </a:rPr>
            </a:br>
            <a:endParaRPr lang="tr-TR" dirty="0"/>
          </a:p>
        </p:txBody>
      </p:sp>
    </p:spTree>
    <p:extLst>
      <p:ext uri="{BB962C8B-B14F-4D97-AF65-F5344CB8AC3E}">
        <p14:creationId xmlns:p14="http://schemas.microsoft.com/office/powerpoint/2010/main" val="1571211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a:bodyPr>
          <a:lstStyle/>
          <a:p>
            <a:pPr lvl="0">
              <a:buClr>
                <a:srgbClr val="2DA2BF"/>
              </a:buClr>
            </a:pPr>
            <a:r>
              <a:rPr lang="tr-TR" sz="2800" dirty="0">
                <a:solidFill>
                  <a:srgbClr val="585858"/>
                </a:solidFill>
                <a:latin typeface="Arial" panose="020B0604020202020204" pitchFamily="34" charset="0"/>
              </a:rPr>
              <a:t>Saatim her zaman Ayten’e beş var</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Ya da Ayten’i beş geçiyor</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Ne yana baksam gördüğüm o</a:t>
            </a:r>
            <a:br>
              <a:rPr lang="tr-TR" sz="2800" dirty="0">
                <a:solidFill>
                  <a:srgbClr val="585858"/>
                </a:solidFill>
                <a:latin typeface="Arial" panose="020B0604020202020204" pitchFamily="34" charset="0"/>
              </a:rPr>
            </a:br>
            <a:r>
              <a:rPr lang="tr-TR" sz="2800" dirty="0">
                <a:solidFill>
                  <a:srgbClr val="585858"/>
                </a:solidFill>
                <a:latin typeface="Arial" panose="020B0604020202020204" pitchFamily="34" charset="0"/>
              </a:rPr>
              <a:t>Gözümü yumsam </a:t>
            </a:r>
            <a:r>
              <a:rPr lang="tr-TR" sz="2800" dirty="0" err="1">
                <a:solidFill>
                  <a:srgbClr val="585858"/>
                </a:solidFill>
                <a:latin typeface="Arial" panose="020B0604020202020204" pitchFamily="34" charset="0"/>
              </a:rPr>
              <a:t>akIımdan</a:t>
            </a:r>
            <a:r>
              <a:rPr lang="tr-TR" sz="2800" dirty="0">
                <a:solidFill>
                  <a:srgbClr val="585858"/>
                </a:solidFill>
                <a:latin typeface="Arial" panose="020B0604020202020204" pitchFamily="34" charset="0"/>
              </a:rPr>
              <a:t> Ayten geçiyor</a:t>
            </a:r>
            <a:br>
              <a:rPr lang="tr-TR" sz="2800" dirty="0">
                <a:solidFill>
                  <a:srgbClr val="585858"/>
                </a:solidFill>
                <a:latin typeface="Arial" panose="020B0604020202020204" pitchFamily="34" charset="0"/>
              </a:rPr>
            </a:br>
            <a:endParaRPr lang="tr-TR" sz="2800" dirty="0">
              <a:solidFill>
                <a:prstClr val="black"/>
              </a:solidFill>
            </a:endParaRPr>
          </a:p>
          <a:p>
            <a:endParaRPr lang="tr-TR" sz="2800"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65692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25000" lnSpcReduction="20000"/>
          </a:bodyPr>
          <a:lstStyle/>
          <a:p>
            <a:pPr lvl="0">
              <a:buClr>
                <a:srgbClr val="2DA2BF"/>
              </a:buClr>
            </a:pPr>
            <a:endParaRPr lang="tr-TR" sz="900" dirty="0" smtClean="0">
              <a:solidFill>
                <a:srgbClr val="585858"/>
              </a:solidFill>
              <a:latin typeface="Arial" panose="020B0604020202020204" pitchFamily="34" charset="0"/>
            </a:endParaRPr>
          </a:p>
          <a:p>
            <a:pPr lvl="0">
              <a:buClr>
                <a:srgbClr val="2DA2BF"/>
              </a:buClr>
            </a:pPr>
            <a:r>
              <a:rPr lang="tr-TR" sz="9600" dirty="0">
                <a:solidFill>
                  <a:srgbClr val="585858"/>
                </a:solidFill>
                <a:latin typeface="Arial" panose="020B0604020202020204" pitchFamily="34" charset="0"/>
              </a:rPr>
              <a:t>Bana sorarsanız </a:t>
            </a:r>
            <a:r>
              <a:rPr lang="tr-TR" sz="9600" dirty="0" err="1">
                <a:solidFill>
                  <a:srgbClr val="585858"/>
                </a:solidFill>
                <a:latin typeface="Arial" panose="020B0604020202020204" pitchFamily="34" charset="0"/>
              </a:rPr>
              <a:t>mevsimIerden</a:t>
            </a:r>
            <a:r>
              <a:rPr lang="tr-TR" sz="9600" dirty="0">
                <a:solidFill>
                  <a:srgbClr val="585858"/>
                </a:solidFill>
                <a:latin typeface="Arial" panose="020B0604020202020204" pitchFamily="34" charset="0"/>
              </a:rPr>
              <a:t> </a:t>
            </a:r>
            <a:r>
              <a:rPr lang="tr-TR" sz="9600" dirty="0" smtClean="0">
                <a:solidFill>
                  <a:srgbClr val="585858"/>
                </a:solidFill>
                <a:latin typeface="Arial" panose="020B0604020202020204" pitchFamily="34" charset="0"/>
              </a:rPr>
              <a:t>Ayten’deyiz</a:t>
            </a:r>
            <a:r>
              <a:rPr lang="tr-TR" sz="9600" dirty="0">
                <a:solidFill>
                  <a:srgbClr val="585858"/>
                </a:solidFill>
                <a:latin typeface="Arial" panose="020B0604020202020204" pitchFamily="34" charset="0"/>
              </a:rPr>
              <a:t/>
            </a:r>
            <a:br>
              <a:rPr lang="tr-TR" sz="9600" dirty="0">
                <a:solidFill>
                  <a:srgbClr val="585858"/>
                </a:solidFill>
                <a:latin typeface="Arial" panose="020B0604020202020204" pitchFamily="34" charset="0"/>
              </a:rPr>
            </a:br>
            <a:r>
              <a:rPr lang="tr-TR" sz="9600" dirty="0" err="1">
                <a:solidFill>
                  <a:srgbClr val="585858"/>
                </a:solidFill>
                <a:latin typeface="Arial" panose="020B0604020202020204" pitchFamily="34" charset="0"/>
              </a:rPr>
              <a:t>GünIerden</a:t>
            </a:r>
            <a:r>
              <a:rPr lang="tr-TR" sz="9600" dirty="0">
                <a:solidFill>
                  <a:srgbClr val="585858"/>
                </a:solidFill>
                <a:latin typeface="Arial" panose="020B0604020202020204" pitchFamily="34" charset="0"/>
              </a:rPr>
              <a:t> </a:t>
            </a:r>
            <a:r>
              <a:rPr lang="tr-TR" sz="9600" dirty="0" err="1">
                <a:solidFill>
                  <a:srgbClr val="585858"/>
                </a:solidFill>
                <a:latin typeface="Arial" panose="020B0604020202020204" pitchFamily="34" charset="0"/>
              </a:rPr>
              <a:t>Aytenertesidir</a:t>
            </a:r>
            <a:r>
              <a:rPr lang="tr-TR" sz="9600" dirty="0">
                <a:solidFill>
                  <a:srgbClr val="585858"/>
                </a:solidFill>
                <a:latin typeface="Arial" panose="020B0604020202020204" pitchFamily="34" charset="0"/>
              </a:rPr>
              <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Odur gün gün beni yaşatan</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Onun kokusu sarmıştır </a:t>
            </a:r>
            <a:r>
              <a:rPr lang="tr-TR" sz="9600" dirty="0" err="1">
                <a:solidFill>
                  <a:srgbClr val="585858"/>
                </a:solidFill>
                <a:latin typeface="Arial" panose="020B0604020202020204" pitchFamily="34" charset="0"/>
              </a:rPr>
              <a:t>sokakIarı</a:t>
            </a:r>
            <a:r>
              <a:rPr lang="tr-TR" sz="9600" dirty="0">
                <a:solidFill>
                  <a:srgbClr val="585858"/>
                </a:solidFill>
                <a:latin typeface="Arial" panose="020B0604020202020204" pitchFamily="34" charset="0"/>
              </a:rPr>
              <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Onun </a:t>
            </a:r>
            <a:r>
              <a:rPr lang="tr-TR" sz="9600" dirty="0" err="1">
                <a:solidFill>
                  <a:srgbClr val="585858"/>
                </a:solidFill>
                <a:latin typeface="Arial" panose="020B0604020202020204" pitchFamily="34" charset="0"/>
              </a:rPr>
              <a:t>gözIeridir</a:t>
            </a:r>
            <a:r>
              <a:rPr lang="tr-TR" sz="9600" dirty="0">
                <a:solidFill>
                  <a:srgbClr val="585858"/>
                </a:solidFill>
                <a:latin typeface="Arial" panose="020B0604020202020204" pitchFamily="34" charset="0"/>
              </a:rPr>
              <a:t> şafakta gördüğüm</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Akşam </a:t>
            </a:r>
            <a:r>
              <a:rPr lang="tr-TR" sz="9600" dirty="0" err="1">
                <a:solidFill>
                  <a:srgbClr val="585858"/>
                </a:solidFill>
                <a:latin typeface="Arial" panose="020B0604020202020204" pitchFamily="34" charset="0"/>
              </a:rPr>
              <a:t>kızıIIığında</a:t>
            </a:r>
            <a:r>
              <a:rPr lang="tr-TR" sz="9600" dirty="0">
                <a:solidFill>
                  <a:srgbClr val="585858"/>
                </a:solidFill>
                <a:latin typeface="Arial" panose="020B0604020202020204" pitchFamily="34" charset="0"/>
              </a:rPr>
              <a:t> onun </a:t>
            </a:r>
            <a:r>
              <a:rPr lang="tr-TR" sz="9600" dirty="0" err="1">
                <a:solidFill>
                  <a:srgbClr val="585858"/>
                </a:solidFill>
                <a:latin typeface="Arial" panose="020B0604020202020204" pitchFamily="34" charset="0"/>
              </a:rPr>
              <a:t>dudakIarı</a:t>
            </a:r>
            <a:r>
              <a:rPr lang="tr-TR" sz="9600" dirty="0">
                <a:solidFill>
                  <a:srgbClr val="585858"/>
                </a:solidFill>
                <a:latin typeface="Arial" panose="020B0604020202020204" pitchFamily="34" charset="0"/>
              </a:rPr>
              <a:t/>
            </a:r>
            <a:br>
              <a:rPr lang="tr-TR" sz="9600" dirty="0">
                <a:solidFill>
                  <a:srgbClr val="585858"/>
                </a:solidFill>
                <a:latin typeface="Arial" panose="020B0604020202020204" pitchFamily="34" charset="0"/>
              </a:rPr>
            </a:br>
            <a:r>
              <a:rPr lang="tr-TR" sz="9600" dirty="0" smtClean="0">
                <a:solidFill>
                  <a:srgbClr val="585858"/>
                </a:solidFill>
                <a:latin typeface="Arial" panose="020B0604020202020204" pitchFamily="34" charset="0"/>
              </a:rPr>
              <a:t>Başka </a:t>
            </a:r>
            <a:r>
              <a:rPr lang="tr-TR" sz="9600" dirty="0">
                <a:solidFill>
                  <a:srgbClr val="585858"/>
                </a:solidFill>
                <a:latin typeface="Arial" panose="020B0604020202020204" pitchFamily="34" charset="0"/>
              </a:rPr>
              <a:t>kadını övmeyin yanımda gücenirim</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Ayten’i övecekseniz ne </a:t>
            </a:r>
            <a:r>
              <a:rPr lang="tr-TR" sz="9600" dirty="0" err="1">
                <a:solidFill>
                  <a:srgbClr val="585858"/>
                </a:solidFill>
                <a:latin typeface="Arial" panose="020B0604020202020204" pitchFamily="34" charset="0"/>
              </a:rPr>
              <a:t>aIa</a:t>
            </a:r>
            <a:r>
              <a:rPr lang="tr-TR" sz="9600" dirty="0">
                <a:solidFill>
                  <a:srgbClr val="585858"/>
                </a:solidFill>
                <a:latin typeface="Arial" panose="020B0604020202020204" pitchFamily="34" charset="0"/>
              </a:rPr>
              <a:t>, </a:t>
            </a:r>
            <a:r>
              <a:rPr lang="tr-TR" sz="9600" dirty="0" err="1">
                <a:solidFill>
                  <a:srgbClr val="585858"/>
                </a:solidFill>
                <a:latin typeface="Arial" panose="020B0604020202020204" pitchFamily="34" charset="0"/>
              </a:rPr>
              <a:t>oturabiIirsiniz</a:t>
            </a:r>
            <a:r>
              <a:rPr lang="tr-TR" sz="9600" dirty="0">
                <a:solidFill>
                  <a:srgbClr val="585858"/>
                </a:solidFill>
                <a:latin typeface="Arial" panose="020B0604020202020204" pitchFamily="34" charset="0"/>
              </a:rPr>
              <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Bir kadehte </a:t>
            </a:r>
            <a:r>
              <a:rPr lang="tr-TR" sz="9600" dirty="0" err="1">
                <a:solidFill>
                  <a:srgbClr val="585858"/>
                </a:solidFill>
                <a:latin typeface="Arial" panose="020B0604020202020204" pitchFamily="34" charset="0"/>
              </a:rPr>
              <a:t>sizinIe</a:t>
            </a:r>
            <a:r>
              <a:rPr lang="tr-TR" sz="9600" dirty="0">
                <a:solidFill>
                  <a:srgbClr val="585858"/>
                </a:solidFill>
                <a:latin typeface="Arial" panose="020B0604020202020204" pitchFamily="34" charset="0"/>
              </a:rPr>
              <a:t> içeriz </a:t>
            </a:r>
            <a:r>
              <a:rPr lang="tr-TR" sz="9600" dirty="0" err="1" smtClean="0">
                <a:solidFill>
                  <a:srgbClr val="585858"/>
                </a:solidFill>
                <a:latin typeface="Arial" panose="020B0604020202020204" pitchFamily="34" charset="0"/>
              </a:rPr>
              <a:t>AytenIi</a:t>
            </a:r>
            <a:r>
              <a:rPr lang="tr-TR" sz="9600" dirty="0" smtClean="0">
                <a:solidFill>
                  <a:srgbClr val="585858"/>
                </a:solidFill>
                <a:latin typeface="Arial" panose="020B0604020202020204" pitchFamily="34" charset="0"/>
              </a:rPr>
              <a:t> </a:t>
            </a:r>
            <a:r>
              <a:rPr lang="tr-TR" sz="9600" dirty="0">
                <a:solidFill>
                  <a:srgbClr val="585858"/>
                </a:solidFill>
                <a:latin typeface="Arial" panose="020B0604020202020204" pitchFamily="34" charset="0"/>
              </a:rPr>
              <a:t>İki </a:t>
            </a:r>
            <a:r>
              <a:rPr lang="tr-TR" sz="9600" dirty="0" err="1">
                <a:solidFill>
                  <a:srgbClr val="585858"/>
                </a:solidFill>
                <a:latin typeface="Arial" panose="020B0604020202020204" pitchFamily="34" charset="0"/>
              </a:rPr>
              <a:t>Iaf</a:t>
            </a:r>
            <a:r>
              <a:rPr lang="tr-TR" sz="9600" dirty="0">
                <a:solidFill>
                  <a:srgbClr val="585858"/>
                </a:solidFill>
                <a:latin typeface="Arial" panose="020B0604020202020204" pitchFamily="34" charset="0"/>
              </a:rPr>
              <a:t> ederiz</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Onu siz de seversiniz benim gibi</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Ama yağma yok</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Ayten’i size bırakmam</a:t>
            </a:r>
            <a:br>
              <a:rPr lang="tr-TR" sz="9600" dirty="0">
                <a:solidFill>
                  <a:srgbClr val="585858"/>
                </a:solidFill>
                <a:latin typeface="Arial" panose="020B0604020202020204" pitchFamily="34" charset="0"/>
              </a:rPr>
            </a:br>
            <a:r>
              <a:rPr lang="tr-TR" sz="9600" dirty="0" err="1">
                <a:solidFill>
                  <a:srgbClr val="585858"/>
                </a:solidFill>
                <a:latin typeface="Arial" panose="020B0604020202020204" pitchFamily="34" charset="0"/>
              </a:rPr>
              <a:t>AIın</a:t>
            </a:r>
            <a:r>
              <a:rPr lang="tr-TR" sz="9600" dirty="0">
                <a:solidFill>
                  <a:srgbClr val="585858"/>
                </a:solidFill>
                <a:latin typeface="Arial" panose="020B0604020202020204" pitchFamily="34" charset="0"/>
              </a:rPr>
              <a:t> tek kat </a:t>
            </a:r>
            <a:r>
              <a:rPr lang="tr-TR" sz="9600" dirty="0" err="1">
                <a:solidFill>
                  <a:srgbClr val="585858"/>
                </a:solidFill>
                <a:latin typeface="Arial" panose="020B0604020202020204" pitchFamily="34" charset="0"/>
              </a:rPr>
              <a:t>eIbisemi</a:t>
            </a:r>
            <a:r>
              <a:rPr lang="tr-TR" sz="9600" dirty="0">
                <a:solidFill>
                  <a:srgbClr val="585858"/>
                </a:solidFill>
                <a:latin typeface="Arial" panose="020B0604020202020204" pitchFamily="34" charset="0"/>
              </a:rPr>
              <a:t> size vereyim</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Cebimde bir on </a:t>
            </a:r>
            <a:r>
              <a:rPr lang="tr-TR" sz="9600" dirty="0" err="1">
                <a:solidFill>
                  <a:srgbClr val="585858"/>
                </a:solidFill>
                <a:latin typeface="Arial" panose="020B0604020202020204" pitchFamily="34" charset="0"/>
              </a:rPr>
              <a:t>Iiram</a:t>
            </a:r>
            <a:r>
              <a:rPr lang="tr-TR" sz="9600" dirty="0">
                <a:solidFill>
                  <a:srgbClr val="585858"/>
                </a:solidFill>
                <a:latin typeface="Arial" panose="020B0604020202020204" pitchFamily="34" charset="0"/>
              </a:rPr>
              <a:t> var</a:t>
            </a:r>
            <a:br>
              <a:rPr lang="tr-TR" sz="9600" dirty="0">
                <a:solidFill>
                  <a:srgbClr val="585858"/>
                </a:solidFill>
                <a:latin typeface="Arial" panose="020B0604020202020204" pitchFamily="34" charset="0"/>
              </a:rPr>
            </a:br>
            <a:r>
              <a:rPr lang="tr-TR" sz="9600" dirty="0">
                <a:solidFill>
                  <a:srgbClr val="585858"/>
                </a:solidFill>
                <a:latin typeface="Arial" panose="020B0604020202020204" pitchFamily="34" charset="0"/>
              </a:rPr>
              <a:t>Onu da </a:t>
            </a:r>
            <a:r>
              <a:rPr lang="tr-TR" sz="9600" dirty="0" err="1">
                <a:solidFill>
                  <a:srgbClr val="585858"/>
                </a:solidFill>
                <a:latin typeface="Arial" panose="020B0604020202020204" pitchFamily="34" charset="0"/>
              </a:rPr>
              <a:t>aIın</a:t>
            </a:r>
            <a:r>
              <a:rPr lang="tr-TR" sz="9600" dirty="0">
                <a:solidFill>
                  <a:srgbClr val="585858"/>
                </a:solidFill>
                <a:latin typeface="Arial" panose="020B0604020202020204" pitchFamily="34" charset="0"/>
              </a:rPr>
              <a:t> gerekirse</a:t>
            </a:r>
            <a:br>
              <a:rPr lang="tr-TR" sz="9600" dirty="0">
                <a:solidFill>
                  <a:srgbClr val="585858"/>
                </a:solidFill>
                <a:latin typeface="Arial" panose="020B0604020202020204" pitchFamily="34" charset="0"/>
              </a:rPr>
            </a:br>
            <a:endParaRPr lang="tr-TR" sz="9600" dirty="0">
              <a:solidFill>
                <a:prstClr val="black"/>
              </a:solidFill>
            </a:endParaRPr>
          </a:p>
          <a:p>
            <a:endParaRPr lang="tr-TR" sz="5500" dirty="0"/>
          </a:p>
          <a:p>
            <a:pPr lvl="0">
              <a:buClr>
                <a:srgbClr val="2DA2BF"/>
              </a:buClr>
            </a:pPr>
            <a:endParaRPr lang="tr-TR" sz="900" dirty="0" smtClean="0">
              <a:solidFill>
                <a:srgbClr val="585858"/>
              </a:solidFill>
              <a:latin typeface="Arial" panose="020B0604020202020204" pitchFamily="34" charset="0"/>
            </a:endParaRP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2668892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Autofit/>
          </a:bodyPr>
          <a:lstStyle/>
          <a:p>
            <a:pPr lvl="0">
              <a:buClr>
                <a:srgbClr val="2DA2BF"/>
              </a:buClr>
            </a:pPr>
            <a:r>
              <a:rPr lang="tr-TR" sz="2400" dirty="0">
                <a:solidFill>
                  <a:srgbClr val="585858"/>
                </a:solidFill>
                <a:latin typeface="Arial" panose="020B0604020202020204" pitchFamily="34" charset="0"/>
              </a:rPr>
              <a:t>Ben Ayten’i düşünürüm, üşümem</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Üç kere adını </a:t>
            </a:r>
            <a:r>
              <a:rPr lang="tr-TR" sz="2400" dirty="0" err="1">
                <a:solidFill>
                  <a:srgbClr val="585858"/>
                </a:solidFill>
                <a:latin typeface="Arial" panose="020B0604020202020204" pitchFamily="34" charset="0"/>
              </a:rPr>
              <a:t>tekrarIarım</a:t>
            </a:r>
            <a:r>
              <a:rPr lang="tr-TR" sz="2400" dirty="0">
                <a:solidFill>
                  <a:srgbClr val="585858"/>
                </a:solidFill>
                <a:latin typeface="Arial" panose="020B0604020202020204" pitchFamily="34" charset="0"/>
              </a:rPr>
              <a:t>, karnım doyar</a:t>
            </a:r>
            <a:br>
              <a:rPr lang="tr-TR" sz="2400" dirty="0">
                <a:solidFill>
                  <a:srgbClr val="585858"/>
                </a:solidFill>
                <a:latin typeface="Arial" panose="020B0604020202020204" pitchFamily="34" charset="0"/>
              </a:rPr>
            </a:br>
            <a:r>
              <a:rPr lang="tr-TR" sz="2400" dirty="0" err="1">
                <a:solidFill>
                  <a:srgbClr val="585858"/>
                </a:solidFill>
                <a:latin typeface="Arial" panose="020B0604020202020204" pitchFamily="34" charset="0"/>
              </a:rPr>
              <a:t>ParasızIık</a:t>
            </a:r>
            <a:r>
              <a:rPr lang="tr-TR" sz="2400" dirty="0">
                <a:solidFill>
                  <a:srgbClr val="585858"/>
                </a:solidFill>
                <a:latin typeface="Arial" panose="020B0604020202020204" pitchFamily="34" charset="0"/>
              </a:rPr>
              <a:t> da bir şey mi</a:t>
            </a:r>
            <a:br>
              <a:rPr lang="tr-TR" sz="2400" dirty="0">
                <a:solidFill>
                  <a:srgbClr val="585858"/>
                </a:solidFill>
                <a:latin typeface="Arial" panose="020B0604020202020204" pitchFamily="34" charset="0"/>
              </a:rPr>
            </a:br>
            <a:r>
              <a:rPr lang="tr-TR" sz="2400" dirty="0" err="1">
                <a:solidFill>
                  <a:srgbClr val="585858"/>
                </a:solidFill>
                <a:latin typeface="Arial" panose="020B0604020202020204" pitchFamily="34" charset="0"/>
              </a:rPr>
              <a:t>ÖIüm</a:t>
            </a:r>
            <a:r>
              <a:rPr lang="tr-TR" sz="2400" dirty="0">
                <a:solidFill>
                  <a:srgbClr val="585858"/>
                </a:solidFill>
                <a:latin typeface="Arial" panose="020B0604020202020204" pitchFamily="34" charset="0"/>
              </a:rPr>
              <a:t> </a:t>
            </a:r>
            <a:r>
              <a:rPr lang="tr-TR" sz="2400" dirty="0" err="1">
                <a:solidFill>
                  <a:srgbClr val="585858"/>
                </a:solidFill>
                <a:latin typeface="Arial" panose="020B0604020202020204" pitchFamily="34" charset="0"/>
              </a:rPr>
              <a:t>biIe</a:t>
            </a:r>
            <a:r>
              <a:rPr lang="tr-TR" sz="2400" dirty="0">
                <a:solidFill>
                  <a:srgbClr val="585858"/>
                </a:solidFill>
                <a:latin typeface="Arial" panose="020B0604020202020204" pitchFamily="34" charset="0"/>
              </a:rPr>
              <a:t> kötü </a:t>
            </a:r>
            <a:r>
              <a:rPr lang="tr-TR" sz="2400" dirty="0" err="1">
                <a:solidFill>
                  <a:srgbClr val="585858"/>
                </a:solidFill>
                <a:latin typeface="Arial" panose="020B0604020202020204" pitchFamily="34" charset="0"/>
              </a:rPr>
              <a:t>değiI</a:t>
            </a:r>
            <a:r>
              <a:rPr lang="tr-TR" sz="2400" dirty="0">
                <a:solidFill>
                  <a:srgbClr val="585858"/>
                </a:solidFill>
                <a:latin typeface="Arial" panose="020B0604020202020204" pitchFamily="34" charset="0"/>
              </a:rPr>
              <a:t/>
            </a:r>
            <a:br>
              <a:rPr lang="tr-TR" sz="2400" dirty="0">
                <a:solidFill>
                  <a:srgbClr val="585858"/>
                </a:solidFill>
                <a:latin typeface="Arial" panose="020B0604020202020204" pitchFamily="34" charset="0"/>
              </a:rPr>
            </a:br>
            <a:r>
              <a:rPr lang="tr-TR" sz="2400" dirty="0" err="1">
                <a:solidFill>
                  <a:srgbClr val="585858"/>
                </a:solidFill>
                <a:latin typeface="Arial" panose="020B0604020202020204" pitchFamily="34" charset="0"/>
              </a:rPr>
              <a:t>AytensizIik</a:t>
            </a:r>
            <a:r>
              <a:rPr lang="tr-TR" sz="2400" dirty="0">
                <a:solidFill>
                  <a:srgbClr val="585858"/>
                </a:solidFill>
                <a:latin typeface="Arial" panose="020B0604020202020204" pitchFamily="34" charset="0"/>
              </a:rPr>
              <a:t> kadar</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Ona uğramayan </a:t>
            </a:r>
            <a:r>
              <a:rPr lang="tr-TR" sz="2400" dirty="0" err="1">
                <a:solidFill>
                  <a:srgbClr val="585858"/>
                </a:solidFill>
                <a:latin typeface="Arial" panose="020B0604020202020204" pitchFamily="34" charset="0"/>
              </a:rPr>
              <a:t>gemiIer</a:t>
            </a:r>
            <a:r>
              <a:rPr lang="tr-TR" sz="2400" dirty="0">
                <a:solidFill>
                  <a:srgbClr val="585858"/>
                </a:solidFill>
                <a:latin typeface="Arial" panose="020B0604020202020204" pitchFamily="34" charset="0"/>
              </a:rPr>
              <a:t> batsın</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Ondan geçmeyen </a:t>
            </a:r>
            <a:r>
              <a:rPr lang="tr-TR" sz="2400" dirty="0" err="1">
                <a:solidFill>
                  <a:srgbClr val="585858"/>
                </a:solidFill>
                <a:latin typeface="Arial" panose="020B0604020202020204" pitchFamily="34" charset="0"/>
              </a:rPr>
              <a:t>trenIer</a:t>
            </a:r>
            <a:r>
              <a:rPr lang="tr-TR" sz="2400" dirty="0">
                <a:solidFill>
                  <a:srgbClr val="585858"/>
                </a:solidFill>
                <a:latin typeface="Arial" panose="020B0604020202020204" pitchFamily="34" charset="0"/>
              </a:rPr>
              <a:t> </a:t>
            </a:r>
            <a:r>
              <a:rPr lang="tr-TR" sz="2400" dirty="0" err="1">
                <a:solidFill>
                  <a:srgbClr val="585858"/>
                </a:solidFill>
                <a:latin typeface="Arial" panose="020B0604020202020204" pitchFamily="34" charset="0"/>
              </a:rPr>
              <a:t>devriIsin</a:t>
            </a:r>
            <a:r>
              <a:rPr lang="tr-TR" sz="2400" dirty="0">
                <a:solidFill>
                  <a:srgbClr val="585858"/>
                </a:solidFill>
                <a:latin typeface="Arial" panose="020B0604020202020204" pitchFamily="34" charset="0"/>
              </a:rPr>
              <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Onu sevmeyen yürek taş </a:t>
            </a:r>
            <a:r>
              <a:rPr lang="tr-TR" sz="2400" dirty="0" err="1">
                <a:solidFill>
                  <a:srgbClr val="585858"/>
                </a:solidFill>
                <a:latin typeface="Arial" panose="020B0604020202020204" pitchFamily="34" charset="0"/>
              </a:rPr>
              <a:t>kesiIsin</a:t>
            </a:r>
            <a:r>
              <a:rPr lang="tr-TR" sz="2400" dirty="0">
                <a:solidFill>
                  <a:srgbClr val="585858"/>
                </a:solidFill>
                <a:latin typeface="Arial" panose="020B0604020202020204" pitchFamily="34" charset="0"/>
              </a:rPr>
              <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Kapansın onu görmeyen </a:t>
            </a:r>
            <a:r>
              <a:rPr lang="tr-TR" sz="2400" dirty="0" err="1">
                <a:solidFill>
                  <a:srgbClr val="585858"/>
                </a:solidFill>
                <a:latin typeface="Arial" panose="020B0604020202020204" pitchFamily="34" charset="0"/>
              </a:rPr>
              <a:t>gözIer</a:t>
            </a:r>
            <a:r>
              <a:rPr lang="tr-TR" sz="2400" dirty="0">
                <a:solidFill>
                  <a:srgbClr val="585858"/>
                </a:solidFill>
                <a:latin typeface="Arial" panose="020B0604020202020204" pitchFamily="34" charset="0"/>
              </a:rPr>
              <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Onu övmeyen </a:t>
            </a:r>
            <a:r>
              <a:rPr lang="tr-TR" sz="2400" dirty="0" err="1">
                <a:solidFill>
                  <a:srgbClr val="585858"/>
                </a:solidFill>
                <a:latin typeface="Arial" panose="020B0604020202020204" pitchFamily="34" charset="0"/>
              </a:rPr>
              <a:t>diIIer</a:t>
            </a:r>
            <a:r>
              <a:rPr lang="tr-TR" sz="2400" dirty="0">
                <a:solidFill>
                  <a:srgbClr val="585858"/>
                </a:solidFill>
                <a:latin typeface="Arial" panose="020B0604020202020204" pitchFamily="34" charset="0"/>
              </a:rPr>
              <a:t> kurusun</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İki kere iki dört </a:t>
            </a:r>
            <a:r>
              <a:rPr lang="tr-TR" sz="2400" dirty="0" err="1">
                <a:solidFill>
                  <a:srgbClr val="585858"/>
                </a:solidFill>
                <a:latin typeface="Arial" panose="020B0604020202020204" pitchFamily="34" charset="0"/>
              </a:rPr>
              <a:t>eIde</a:t>
            </a:r>
            <a:r>
              <a:rPr lang="tr-TR" sz="2400" dirty="0">
                <a:solidFill>
                  <a:srgbClr val="585858"/>
                </a:solidFill>
                <a:latin typeface="Arial" panose="020B0604020202020204" pitchFamily="34" charset="0"/>
              </a:rPr>
              <a:t> var Ayten</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Bundan </a:t>
            </a:r>
            <a:r>
              <a:rPr lang="tr-TR" sz="2400" dirty="0" err="1">
                <a:solidFill>
                  <a:srgbClr val="585858"/>
                </a:solidFill>
                <a:latin typeface="Arial" panose="020B0604020202020204" pitchFamily="34" charset="0"/>
              </a:rPr>
              <a:t>böyIe</a:t>
            </a:r>
            <a:r>
              <a:rPr lang="tr-TR" sz="2400" dirty="0">
                <a:solidFill>
                  <a:srgbClr val="585858"/>
                </a:solidFill>
                <a:latin typeface="Arial" panose="020B0604020202020204" pitchFamily="34" charset="0"/>
              </a:rPr>
              <a:t> dünyada</a:t>
            </a:r>
            <a:br>
              <a:rPr lang="tr-TR" sz="2400" dirty="0">
                <a:solidFill>
                  <a:srgbClr val="585858"/>
                </a:solidFill>
                <a:latin typeface="Arial" panose="020B0604020202020204" pitchFamily="34" charset="0"/>
              </a:rPr>
            </a:br>
            <a:r>
              <a:rPr lang="tr-TR" sz="2400" dirty="0">
                <a:solidFill>
                  <a:srgbClr val="585858"/>
                </a:solidFill>
                <a:latin typeface="Arial" panose="020B0604020202020204" pitchFamily="34" charset="0"/>
              </a:rPr>
              <a:t>Aşkın adı Ayten </a:t>
            </a:r>
            <a:r>
              <a:rPr lang="tr-TR" sz="2400" dirty="0" err="1">
                <a:solidFill>
                  <a:srgbClr val="585858"/>
                </a:solidFill>
                <a:latin typeface="Arial" panose="020B0604020202020204" pitchFamily="34" charset="0"/>
              </a:rPr>
              <a:t>oIsun</a:t>
            </a:r>
            <a:endParaRPr lang="tr-TR" sz="2400" dirty="0">
              <a:solidFill>
                <a:srgbClr val="585858"/>
              </a:solidFill>
              <a:latin typeface="Arial" panose="020B0604020202020204" pitchFamily="34" charset="0"/>
            </a:endParaRPr>
          </a:p>
          <a:p>
            <a:endParaRPr lang="tr-TR" sz="2400"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24906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lnSpcReduction="10000"/>
          </a:bodyPr>
          <a:lstStyle/>
          <a:p>
            <a:r>
              <a:rPr lang="tr-TR" sz="2800" dirty="0">
                <a:latin typeface="TimesNewRomanPSMT"/>
              </a:rPr>
              <a:t>Şiir, bilgi aktarmak için yazılmaz. Şiirin aktardığı şey bilgi değil yaşantıdır. Şiir,</a:t>
            </a:r>
          </a:p>
          <a:p>
            <a:r>
              <a:rPr lang="tr-TR" sz="2800" dirty="0">
                <a:latin typeface="TimesNewRomanPSMT"/>
              </a:rPr>
              <a:t>duygulardan, imgelerden, düşlerden ve özlemlerden oluşmuş bir yaşantı birikiminin ürünüdür.</a:t>
            </a:r>
          </a:p>
          <a:p>
            <a:r>
              <a:rPr lang="tr-TR" sz="2800" dirty="0">
                <a:latin typeface="TimesNewRomanPSMT"/>
              </a:rPr>
              <a:t>Şiir özel bir düşünme biçimidir, yani imge yoluyla düşüncedir. Şiirin ana yapı taşıdır imge,</a:t>
            </a:r>
          </a:p>
          <a:p>
            <a:r>
              <a:rPr lang="tr-TR" sz="2800" dirty="0">
                <a:latin typeface="TimesNewRomanPSMT"/>
              </a:rPr>
              <a:t>çünkü duyularla algılanan varlıkların, durumların zihindeki görüntüleri, bunların şiire yansıyış</a:t>
            </a:r>
          </a:p>
          <a:p>
            <a:r>
              <a:rPr lang="tr-TR" sz="2800" dirty="0">
                <a:latin typeface="TimesNewRomanPSMT"/>
              </a:rPr>
              <a:t>biçimleridir imgeler. Şiirin akıldan çok yüreğe seslenmesi de bununla açıklanabilir.</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4130311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a:bodyPr>
          <a:lstStyle/>
          <a:p>
            <a:r>
              <a:rPr lang="tr-TR" sz="2800" dirty="0" smtClean="0">
                <a:latin typeface="TimesNewRomanPSMT"/>
              </a:rPr>
              <a:t>Bunu </a:t>
            </a:r>
            <a:r>
              <a:rPr lang="tr-TR" sz="2800" dirty="0" smtClean="0">
                <a:latin typeface="Times New Roman" panose="02020603050405020304" pitchFamily="18" charset="0"/>
              </a:rPr>
              <a:t>Cema</a:t>
            </a:r>
            <a:r>
              <a:rPr lang="tr-TR" sz="2800" dirty="0" smtClean="0">
                <a:latin typeface="TimesNewRomanPSMT"/>
              </a:rPr>
              <a:t>l </a:t>
            </a:r>
            <a:r>
              <a:rPr lang="tr-TR" sz="2800" dirty="0" err="1">
                <a:latin typeface="TimesNewRomanPSMT"/>
              </a:rPr>
              <a:t>Süreya</a:t>
            </a:r>
            <a:r>
              <a:rPr lang="tr-TR" sz="2800" dirty="0">
                <a:latin typeface="TimesNewRomanPSMT"/>
              </a:rPr>
              <a:t> şöyle dile getirir: “Dünyaya iki türlü bakmaktan söz edilebilir. Kafa ile </a:t>
            </a:r>
            <a:r>
              <a:rPr lang="tr-TR" sz="2800" dirty="0" smtClean="0">
                <a:latin typeface="TimesNewRomanPSMT"/>
              </a:rPr>
              <a:t>bakmak, yürekle </a:t>
            </a:r>
            <a:r>
              <a:rPr lang="tr-TR" sz="2800" dirty="0">
                <a:latin typeface="TimesNewRomanPSMT"/>
              </a:rPr>
              <a:t>yani duygularla bakmak. Bilim bunların birincisini sağlar bize. Kafa yoluyla elde </a:t>
            </a:r>
            <a:r>
              <a:rPr lang="tr-TR" sz="2800" dirty="0" smtClean="0">
                <a:latin typeface="TimesNewRomanPSMT"/>
              </a:rPr>
              <a:t>edilen bilgilerin </a:t>
            </a:r>
            <a:r>
              <a:rPr lang="tr-TR" sz="2800" dirty="0">
                <a:latin typeface="TimesNewRomanPSMT"/>
              </a:rPr>
              <a:t>belli başlı yoludur bilim; ancak dünyayı incelemenin tek olanağı değildir bu. </a:t>
            </a:r>
            <a:r>
              <a:rPr lang="tr-TR" sz="2800" dirty="0" smtClean="0">
                <a:latin typeface="TimesNewRomanPSMT"/>
              </a:rPr>
              <a:t>Hatta bir </a:t>
            </a:r>
            <a:r>
              <a:rPr lang="tr-TR" sz="2800" dirty="0">
                <a:latin typeface="TimesNewRomanPSMT"/>
              </a:rPr>
              <a:t>yerde, en iyi yolu da değildir belki. </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2804716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a:bodyPr>
          <a:lstStyle/>
          <a:p>
            <a:r>
              <a:rPr lang="tr-TR" sz="2800" dirty="0" smtClean="0">
                <a:latin typeface="TimesNewRomanPSMT"/>
              </a:rPr>
              <a:t>A)Sevdiklerinizi ihmal etmeyin. Onlara sevginizi gösterin.</a:t>
            </a:r>
          </a:p>
          <a:p>
            <a:r>
              <a:rPr lang="tr-TR" sz="2800" dirty="0" smtClean="0">
                <a:latin typeface="TimesNewRomanPSMT"/>
              </a:rPr>
              <a:t>B)</a:t>
            </a:r>
            <a:r>
              <a:rPr lang="tr-TR" sz="2800" b="1" dirty="0">
                <a:solidFill>
                  <a:srgbClr val="000000"/>
                </a:solidFill>
                <a:latin typeface="AvenirNext"/>
              </a:rPr>
              <a:t> Sevgilerde</a:t>
            </a:r>
          </a:p>
          <a:p>
            <a:r>
              <a:rPr lang="tr-TR" sz="2800" dirty="0">
                <a:solidFill>
                  <a:srgbClr val="000000"/>
                </a:solidFill>
                <a:latin typeface="AvenirNext"/>
              </a:rPr>
              <a:t>Sevgileri yarınlara bıraktınız</a:t>
            </a:r>
            <a:br>
              <a:rPr lang="tr-TR" sz="2800" dirty="0">
                <a:solidFill>
                  <a:srgbClr val="000000"/>
                </a:solidFill>
                <a:latin typeface="AvenirNext"/>
              </a:rPr>
            </a:br>
            <a:r>
              <a:rPr lang="tr-TR" sz="2800" dirty="0">
                <a:solidFill>
                  <a:srgbClr val="000000"/>
                </a:solidFill>
                <a:latin typeface="AvenirNext"/>
              </a:rPr>
              <a:t>Çekingen, tutuk, saygılı.</a:t>
            </a:r>
            <a:br>
              <a:rPr lang="tr-TR" sz="2800" dirty="0">
                <a:solidFill>
                  <a:srgbClr val="000000"/>
                </a:solidFill>
                <a:latin typeface="AvenirNext"/>
              </a:rPr>
            </a:br>
            <a:r>
              <a:rPr lang="tr-TR" sz="2800" dirty="0">
                <a:solidFill>
                  <a:srgbClr val="000000"/>
                </a:solidFill>
                <a:latin typeface="AvenirNext"/>
              </a:rPr>
              <a:t>Bütün yakınlarınız</a:t>
            </a:r>
            <a:br>
              <a:rPr lang="tr-TR" sz="2800" dirty="0">
                <a:solidFill>
                  <a:srgbClr val="000000"/>
                </a:solidFill>
                <a:latin typeface="AvenirNext"/>
              </a:rPr>
            </a:br>
            <a:r>
              <a:rPr lang="tr-TR" sz="2800" dirty="0">
                <a:solidFill>
                  <a:srgbClr val="000000"/>
                </a:solidFill>
                <a:latin typeface="AvenirNext"/>
              </a:rPr>
              <a:t>Sizi yanlış tanıdı.</a:t>
            </a:r>
          </a:p>
          <a:p>
            <a:r>
              <a:rPr lang="tr-TR" sz="2800" dirty="0">
                <a:solidFill>
                  <a:srgbClr val="000000"/>
                </a:solidFill>
                <a:latin typeface="AvenirNext"/>
              </a:rPr>
              <a:t>Bitmeyen işler yüzünden</a:t>
            </a:r>
            <a:br>
              <a:rPr lang="tr-TR" sz="2800" dirty="0">
                <a:solidFill>
                  <a:srgbClr val="000000"/>
                </a:solidFill>
                <a:latin typeface="AvenirNext"/>
              </a:rPr>
            </a:br>
            <a:r>
              <a:rPr lang="tr-TR" sz="2800" dirty="0">
                <a:solidFill>
                  <a:srgbClr val="000000"/>
                </a:solidFill>
                <a:latin typeface="AvenirNext"/>
              </a:rPr>
              <a:t>(Siz böyle olsun istemezdiniz)</a:t>
            </a:r>
          </a:p>
          <a:p>
            <a:endParaRPr lang="tr-TR" sz="2800" dirty="0" smtClean="0">
              <a:latin typeface="TimesNewRomanPSMT"/>
            </a:endParaRP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067190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92500" lnSpcReduction="10000"/>
          </a:bodyPr>
          <a:lstStyle/>
          <a:p>
            <a:r>
              <a:rPr lang="tr-TR" sz="2800" dirty="0">
                <a:solidFill>
                  <a:srgbClr val="000000"/>
                </a:solidFill>
                <a:latin typeface="AvenirNext"/>
              </a:rPr>
              <a:t>Bir bakış bile yeterken anlatmaya her şeyi</a:t>
            </a:r>
            <a:br>
              <a:rPr lang="tr-TR" sz="2800" dirty="0">
                <a:solidFill>
                  <a:srgbClr val="000000"/>
                </a:solidFill>
                <a:latin typeface="AvenirNext"/>
              </a:rPr>
            </a:br>
            <a:r>
              <a:rPr lang="tr-TR" sz="2800" dirty="0">
                <a:solidFill>
                  <a:srgbClr val="000000"/>
                </a:solidFill>
                <a:latin typeface="AvenirNext"/>
              </a:rPr>
              <a:t>Kalbinizi dolduran duygular</a:t>
            </a:r>
            <a:br>
              <a:rPr lang="tr-TR" sz="2800" dirty="0">
                <a:solidFill>
                  <a:srgbClr val="000000"/>
                </a:solidFill>
                <a:latin typeface="AvenirNext"/>
              </a:rPr>
            </a:br>
            <a:r>
              <a:rPr lang="tr-TR" sz="2800" dirty="0">
                <a:solidFill>
                  <a:srgbClr val="000000"/>
                </a:solidFill>
                <a:latin typeface="AvenirNext"/>
              </a:rPr>
              <a:t>Kalbinizde kaldı.</a:t>
            </a:r>
          </a:p>
          <a:p>
            <a:r>
              <a:rPr lang="tr-TR" sz="2800" dirty="0">
                <a:solidFill>
                  <a:srgbClr val="000000"/>
                </a:solidFill>
                <a:latin typeface="AvenirNext"/>
              </a:rPr>
              <a:t>Siz geniş zamanlar umuyordunuz</a:t>
            </a:r>
            <a:br>
              <a:rPr lang="tr-TR" sz="2800" dirty="0">
                <a:solidFill>
                  <a:srgbClr val="000000"/>
                </a:solidFill>
                <a:latin typeface="AvenirNext"/>
              </a:rPr>
            </a:br>
            <a:r>
              <a:rPr lang="tr-TR" sz="2800" dirty="0">
                <a:solidFill>
                  <a:srgbClr val="000000"/>
                </a:solidFill>
                <a:latin typeface="AvenirNext"/>
              </a:rPr>
              <a:t>Çirkindi dar vakitlerde bir sevgiyi söylemek.</a:t>
            </a:r>
            <a:br>
              <a:rPr lang="tr-TR" sz="2800" dirty="0">
                <a:solidFill>
                  <a:srgbClr val="000000"/>
                </a:solidFill>
                <a:latin typeface="AvenirNext"/>
              </a:rPr>
            </a:br>
            <a:r>
              <a:rPr lang="tr-TR" sz="2800" dirty="0">
                <a:solidFill>
                  <a:srgbClr val="000000"/>
                </a:solidFill>
                <a:latin typeface="AvenirNext"/>
              </a:rPr>
              <a:t>Yılların telâşlarda bu kadar çabuk</a:t>
            </a:r>
            <a:br>
              <a:rPr lang="tr-TR" sz="2800" dirty="0">
                <a:solidFill>
                  <a:srgbClr val="000000"/>
                </a:solidFill>
                <a:latin typeface="AvenirNext"/>
              </a:rPr>
            </a:br>
            <a:r>
              <a:rPr lang="tr-TR" sz="2800" dirty="0">
                <a:solidFill>
                  <a:srgbClr val="000000"/>
                </a:solidFill>
                <a:latin typeface="AvenirNext"/>
              </a:rPr>
              <a:t>Geçeceği aklınıza gelmezdi.</a:t>
            </a:r>
          </a:p>
          <a:p>
            <a:r>
              <a:rPr lang="tr-TR" sz="2800" dirty="0">
                <a:solidFill>
                  <a:srgbClr val="000000"/>
                </a:solidFill>
                <a:latin typeface="AvenirNext"/>
              </a:rPr>
              <a:t>Gizli bahçenizde</a:t>
            </a:r>
            <a:br>
              <a:rPr lang="tr-TR" sz="2800" dirty="0">
                <a:solidFill>
                  <a:srgbClr val="000000"/>
                </a:solidFill>
                <a:latin typeface="AvenirNext"/>
              </a:rPr>
            </a:br>
            <a:r>
              <a:rPr lang="tr-TR" sz="2800" dirty="0">
                <a:solidFill>
                  <a:srgbClr val="000000"/>
                </a:solidFill>
                <a:latin typeface="AvenirNext"/>
              </a:rPr>
              <a:t>Açan çiçekler vardı,</a:t>
            </a:r>
            <a:br>
              <a:rPr lang="tr-TR" sz="2800" dirty="0">
                <a:solidFill>
                  <a:srgbClr val="000000"/>
                </a:solidFill>
                <a:latin typeface="AvenirNext"/>
              </a:rPr>
            </a:br>
            <a:r>
              <a:rPr lang="tr-TR" sz="2800" dirty="0">
                <a:solidFill>
                  <a:srgbClr val="000000"/>
                </a:solidFill>
                <a:latin typeface="AvenirNext"/>
              </a:rPr>
              <a:t>Gecelerde ve yalnız.</a:t>
            </a:r>
            <a:br>
              <a:rPr lang="tr-TR" sz="2800" dirty="0">
                <a:solidFill>
                  <a:srgbClr val="000000"/>
                </a:solidFill>
                <a:latin typeface="AvenirNext"/>
              </a:rPr>
            </a:br>
            <a:r>
              <a:rPr lang="tr-TR" sz="2800" dirty="0">
                <a:solidFill>
                  <a:srgbClr val="000000"/>
                </a:solidFill>
                <a:latin typeface="AvenirNext"/>
              </a:rPr>
              <a:t>Vermeye az buldunuz</a:t>
            </a:r>
            <a:br>
              <a:rPr lang="tr-TR" sz="2800" dirty="0">
                <a:solidFill>
                  <a:srgbClr val="000000"/>
                </a:solidFill>
                <a:latin typeface="AvenirNext"/>
              </a:rPr>
            </a:br>
            <a:r>
              <a:rPr lang="tr-TR" sz="2800" dirty="0">
                <a:solidFill>
                  <a:srgbClr val="000000"/>
                </a:solidFill>
                <a:latin typeface="AvenirNext"/>
              </a:rPr>
              <a:t>Yahut vakit olmadı</a:t>
            </a:r>
          </a:p>
          <a:p>
            <a:pPr marL="109728" indent="0">
              <a:buNone/>
            </a:pPr>
            <a:endParaRPr lang="tr-TR" sz="2800" dirty="0">
              <a:latin typeface="TimesNewRomanPSMT"/>
            </a:endParaRP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704844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smtClean="0"/>
              <a:t>İki ifadenin ilki Türkçede bir nasihat sözüdür.</a:t>
            </a:r>
          </a:p>
          <a:p>
            <a:r>
              <a:rPr lang="tr-TR" dirty="0" smtClean="0"/>
              <a:t>İkincisi Behçet </a:t>
            </a:r>
            <a:r>
              <a:rPr lang="tr-TR" dirty="0" err="1" smtClean="0"/>
              <a:t>Necatigil’in</a:t>
            </a:r>
            <a:r>
              <a:rPr lang="tr-TR" dirty="0" smtClean="0"/>
              <a:t> şiiridir.</a:t>
            </a:r>
          </a:p>
          <a:p>
            <a:pPr marL="109728" indent="0">
              <a:buNone/>
            </a:pPr>
            <a:r>
              <a:rPr lang="tr-TR" dirty="0" smtClean="0"/>
              <a:t>Anlatım ve etkileyicilik bakımından iki ifade kıyaslanabilir.</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4075792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smtClean="0"/>
              <a:t>Ölçülü ve kafiyeli olan şiirlerin genel adı manzumedir.  Her manzume şiir değildir. Eskiden bütün şiirler ölçülü ve uyaklı olduğu için nazım veya manzume denmesi uygundu.</a:t>
            </a:r>
          </a:p>
          <a:p>
            <a:r>
              <a:rPr lang="tr-TR" dirty="0" smtClean="0"/>
              <a:t>Bugün şiir yerine manzume veya nazım demek doğru değildir.</a:t>
            </a: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626022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85000" lnSpcReduction="10000"/>
          </a:bodyPr>
          <a:lstStyle/>
          <a:p>
            <a:r>
              <a:rPr lang="tr-TR" sz="2800" dirty="0" smtClean="0">
                <a:latin typeface="TimesNewRomanPS-BoldMT"/>
              </a:rPr>
              <a:t>1.Ölçü</a:t>
            </a:r>
            <a:r>
              <a:rPr lang="tr-TR" sz="2800" dirty="0" smtClean="0">
                <a:latin typeface="Times New Roman" panose="02020603050405020304" pitchFamily="18" charset="0"/>
              </a:rPr>
              <a:t>/Vezin</a:t>
            </a:r>
            <a:r>
              <a:rPr lang="tr-TR" sz="2800" dirty="0">
                <a:latin typeface="Times New Roman" panose="02020603050405020304" pitchFamily="18" charset="0"/>
              </a:rPr>
              <a:t/>
            </a:r>
            <a:br>
              <a:rPr lang="tr-TR" sz="2800" dirty="0">
                <a:latin typeface="Times New Roman" panose="02020603050405020304" pitchFamily="18" charset="0"/>
              </a:rPr>
            </a:br>
            <a:endParaRPr lang="tr-TR" sz="2800" dirty="0"/>
          </a:p>
          <a:p>
            <a:r>
              <a:rPr lang="tr-TR" sz="2800" dirty="0" smtClean="0">
                <a:latin typeface="Times New Roman" panose="02020603050405020304" pitchFamily="18" charset="0"/>
              </a:rPr>
              <a:t>M</a:t>
            </a:r>
            <a:r>
              <a:rPr lang="tr-TR" sz="2800" dirty="0" smtClean="0">
                <a:latin typeface="TimesNewRomanPSMT"/>
              </a:rPr>
              <a:t>anzum </a:t>
            </a:r>
            <a:r>
              <a:rPr lang="tr-TR" sz="2800" dirty="0">
                <a:latin typeface="TimesNewRomanPSMT"/>
              </a:rPr>
              <a:t>yazılarda hecelerin belli şekil ve sayıda sıralanışından meydana </a:t>
            </a:r>
            <a:r>
              <a:rPr lang="tr-TR" sz="2800" dirty="0" smtClean="0">
                <a:latin typeface="TimesNewRomanPSMT"/>
              </a:rPr>
              <a:t>gelişini tanımlayan </a:t>
            </a:r>
            <a:r>
              <a:rPr lang="tr-TR" sz="2800" dirty="0">
                <a:latin typeface="TimesNewRomanPSMT"/>
              </a:rPr>
              <a:t>ölçü/vezin bütün dillerde vardır. Hecelerin sayısı ya da ses değeri bakımından </a:t>
            </a:r>
            <a:r>
              <a:rPr lang="tr-TR" sz="2800" dirty="0" smtClean="0">
                <a:latin typeface="TimesNewRomanPSMT"/>
              </a:rPr>
              <a:t>eşit olmasına </a:t>
            </a:r>
            <a:r>
              <a:rPr lang="tr-TR" sz="2800" dirty="0">
                <a:latin typeface="TimesNewRomanPSMT"/>
              </a:rPr>
              <a:t>dayanan ölçü, kaynağını da ait olduğu dilden alır. Ölçü mısralar arasında ritmi</a:t>
            </a:r>
          </a:p>
          <a:p>
            <a:r>
              <a:rPr lang="tr-TR" sz="2800" dirty="0">
                <a:latin typeface="TimesNewRomanPSMT"/>
              </a:rPr>
              <a:t>sağlayan unsurdur. Türkçenin ses yapısına ve özelliğine uygun olması açasından milli </a:t>
            </a:r>
            <a:r>
              <a:rPr lang="tr-TR" sz="2800" dirty="0" smtClean="0">
                <a:latin typeface="TimesNewRomanPSMT"/>
              </a:rPr>
              <a:t>ölçü birimi </a:t>
            </a:r>
            <a:r>
              <a:rPr lang="tr-TR" sz="2800" dirty="0">
                <a:latin typeface="TimesNewRomanPSMT"/>
              </a:rPr>
              <a:t>olarak kabul edilen “hece </a:t>
            </a:r>
            <a:r>
              <a:rPr lang="tr-TR" sz="2800" dirty="0" err="1">
                <a:latin typeface="TimesNewRomanPSMT"/>
              </a:rPr>
              <a:t>ölçüsü”nün</a:t>
            </a:r>
            <a:r>
              <a:rPr lang="tr-TR" sz="2800" dirty="0">
                <a:latin typeface="TimesNewRomanPSMT"/>
              </a:rPr>
              <a:t> yanında XI. yüzyıldan başlayarak </a:t>
            </a:r>
            <a:r>
              <a:rPr lang="tr-TR" sz="2800" dirty="0" smtClean="0">
                <a:latin typeface="TimesNewRomanPSMT"/>
              </a:rPr>
              <a:t>yirminci yüzyılın </a:t>
            </a:r>
            <a:r>
              <a:rPr lang="tr-TR" sz="2800" dirty="0">
                <a:latin typeface="TimesNewRomanPSMT"/>
              </a:rPr>
              <a:t>ilk çeyreğine kadar yaygın olarak kullanılan “aruz ölçüsü” de kullanılmıştır.</a:t>
            </a:r>
            <a:endParaRPr lang="tr-TR" dirty="0"/>
          </a:p>
        </p:txBody>
      </p:sp>
      <p:sp>
        <p:nvSpPr>
          <p:cNvPr id="3" name="Unvan 2"/>
          <p:cNvSpPr>
            <a:spLocks noGrp="1"/>
          </p:cNvSpPr>
          <p:nvPr>
            <p:ph type="title"/>
          </p:nvPr>
        </p:nvSpPr>
        <p:spPr/>
        <p:txBody>
          <a:bodyPr>
            <a:normAutofit/>
          </a:bodyPr>
          <a:lstStyle/>
          <a:p>
            <a:r>
              <a:rPr lang="tr-TR" dirty="0" smtClean="0"/>
              <a:t>Şiirin Unsurları</a:t>
            </a:r>
            <a:endParaRPr lang="tr-TR" dirty="0"/>
          </a:p>
        </p:txBody>
      </p:sp>
    </p:spTree>
    <p:extLst>
      <p:ext uri="{BB962C8B-B14F-4D97-AF65-F5344CB8AC3E}">
        <p14:creationId xmlns:p14="http://schemas.microsoft.com/office/powerpoint/2010/main" val="1521939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Autofit/>
          </a:bodyPr>
          <a:lstStyle/>
          <a:p>
            <a:r>
              <a:rPr lang="tr-TR" sz="2400" b="1" dirty="0" smtClean="0">
                <a:latin typeface="TimesNewRomanPS-BoldMT"/>
              </a:rPr>
              <a:t>2.Hece Ölçüsü</a:t>
            </a:r>
            <a:endParaRPr lang="tr-TR" sz="2400" b="1" dirty="0">
              <a:latin typeface="TimesNewRomanPS-BoldMT"/>
            </a:endParaRPr>
          </a:p>
          <a:p>
            <a:r>
              <a:rPr lang="tr-TR" sz="2400" dirty="0" smtClean="0">
                <a:latin typeface="TimesNewRomanPSMT"/>
              </a:rPr>
              <a:t>Mısralardaki </a:t>
            </a:r>
            <a:r>
              <a:rPr lang="tr-TR" sz="2400" dirty="0">
                <a:latin typeface="TimesNewRomanPSMT"/>
              </a:rPr>
              <a:t>hece sayısının eşitliğine dayanan hece ölçüsü, Türkçenin ses </a:t>
            </a:r>
            <a:r>
              <a:rPr lang="tr-TR" sz="2400" dirty="0" smtClean="0">
                <a:latin typeface="TimesNewRomanPSMT"/>
              </a:rPr>
              <a:t>özelliklerine bağlı </a:t>
            </a:r>
            <a:r>
              <a:rPr lang="tr-TR" sz="2400" dirty="0">
                <a:latin typeface="TimesNewRomanPSMT"/>
              </a:rPr>
              <a:t>olarak ritim oluşturma yoludur. Hece ölçüsünün temelini “kalıp” olarak </a:t>
            </a:r>
            <a:r>
              <a:rPr lang="tr-TR" sz="2400" dirty="0" smtClean="0">
                <a:latin typeface="TimesNewRomanPSMT"/>
              </a:rPr>
              <a:t>adlandırılabilecek unsurlar </a:t>
            </a:r>
            <a:r>
              <a:rPr lang="tr-TR" sz="2400" dirty="0">
                <a:latin typeface="TimesNewRomanPSMT"/>
              </a:rPr>
              <a:t>oluşturur. Bu kalıplar belli sayıda hece kümeleri veya durak noktalarından oluşur.</a:t>
            </a:r>
          </a:p>
          <a:p>
            <a:r>
              <a:rPr lang="tr-TR" sz="2400" dirty="0">
                <a:latin typeface="TimesNewRomanPSMT"/>
              </a:rPr>
              <a:t>Durak noktaları, bir mısradaki hece kümelerinin aralarındaki kopma noktasından ibarettir</a:t>
            </a:r>
            <a:r>
              <a:rPr lang="tr-TR" sz="2400" dirty="0" smtClean="0">
                <a:latin typeface="TimesNewRomanPSMT"/>
              </a:rPr>
              <a:t>.</a:t>
            </a:r>
          </a:p>
          <a:p>
            <a:endParaRPr lang="tr-TR" sz="2400" dirty="0">
              <a:latin typeface="TimesNewRomanPSMT"/>
            </a:endParaRPr>
          </a:p>
          <a:p>
            <a:endParaRPr lang="tr-TR" sz="2400" dirty="0">
              <a:latin typeface="TimesNewRomanPSMT"/>
            </a:endParaRP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007183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lvl="0">
              <a:buClr>
                <a:srgbClr val="2DA2BF"/>
              </a:buClr>
            </a:pPr>
            <a:r>
              <a:rPr lang="tr-TR" sz="2400" dirty="0">
                <a:solidFill>
                  <a:prstClr val="black"/>
                </a:solidFill>
                <a:latin typeface="TimesNewRomanPSMT"/>
              </a:rPr>
              <a:t>Burada önemli olan nokta bölünme noktasının kelime ya da kelime grubundan sonra gelmesine</a:t>
            </a:r>
          </a:p>
          <a:p>
            <a:pPr lvl="0">
              <a:buClr>
                <a:srgbClr val="2DA2BF"/>
              </a:buClr>
            </a:pPr>
            <a:r>
              <a:rPr lang="tr-TR" sz="2400" dirty="0">
                <a:solidFill>
                  <a:prstClr val="black"/>
                </a:solidFill>
                <a:latin typeface="TimesNewRomanPSMT"/>
              </a:rPr>
              <a:t>dikkat edilmesidir. Ancak her zaman mısralardaki durak noktaları benzerlik göstermez, yani</a:t>
            </a:r>
          </a:p>
          <a:p>
            <a:pPr lvl="0">
              <a:buClr>
                <a:srgbClr val="2DA2BF"/>
              </a:buClr>
            </a:pPr>
            <a:r>
              <a:rPr lang="tr-TR" sz="2400" dirty="0">
                <a:solidFill>
                  <a:prstClr val="black"/>
                </a:solidFill>
                <a:latin typeface="TimesNewRomanPSMT"/>
              </a:rPr>
              <a:t>bentlerdeki mısralar arasında durak noktaları farklı </a:t>
            </a:r>
            <a:r>
              <a:rPr lang="tr-TR" sz="2400" dirty="0" smtClean="0">
                <a:solidFill>
                  <a:prstClr val="black"/>
                </a:solidFill>
                <a:latin typeface="TimesNewRomanPSMT"/>
              </a:rPr>
              <a:t>olabilir. </a:t>
            </a:r>
            <a:r>
              <a:rPr lang="tr-TR" sz="2400" dirty="0">
                <a:solidFill>
                  <a:prstClr val="black"/>
                </a:solidFill>
                <a:latin typeface="TimesNewRomanPSMT"/>
              </a:rPr>
              <a:t>Türk </a:t>
            </a:r>
            <a:r>
              <a:rPr lang="tr-TR" sz="2400" dirty="0" smtClean="0">
                <a:solidFill>
                  <a:prstClr val="black"/>
                </a:solidFill>
                <a:latin typeface="TimesNewRomanPSMT"/>
              </a:rPr>
              <a:t>halk şiirinde genel </a:t>
            </a:r>
            <a:r>
              <a:rPr lang="tr-TR" sz="2400" dirty="0">
                <a:solidFill>
                  <a:prstClr val="black"/>
                </a:solidFill>
                <a:latin typeface="TimesNewRomanPSMT"/>
              </a:rPr>
              <a:t>olarak hece ölçüleri dört ile on altı arasında değişir. Modern Türk şiirinde yaygın</a:t>
            </a:r>
          </a:p>
          <a:p>
            <a:pPr lvl="0">
              <a:buClr>
                <a:srgbClr val="2DA2BF"/>
              </a:buClr>
            </a:pPr>
            <a:r>
              <a:rPr lang="tr-TR" sz="2400" dirty="0">
                <a:solidFill>
                  <a:prstClr val="black"/>
                </a:solidFill>
                <a:latin typeface="TimesNewRomanPSMT"/>
              </a:rPr>
              <a:t>olarak on birli hece kalıbı </a:t>
            </a:r>
            <a:r>
              <a:rPr lang="tr-TR" sz="2400" dirty="0" smtClean="0">
                <a:solidFill>
                  <a:prstClr val="black"/>
                </a:solidFill>
                <a:latin typeface="TimesNewRomanPSMT"/>
              </a:rPr>
              <a:t>kullanıldığı </a:t>
            </a:r>
            <a:r>
              <a:rPr lang="tr-TR" sz="2400" dirty="0">
                <a:solidFill>
                  <a:prstClr val="black"/>
                </a:solidFill>
                <a:latin typeface="TimesNewRomanPSMT"/>
              </a:rPr>
              <a:t>söylenebilir.</a:t>
            </a: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362414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lvl="0">
              <a:buClr>
                <a:srgbClr val="2DA2BF"/>
              </a:buClr>
            </a:pPr>
            <a:r>
              <a:rPr lang="tr-TR" sz="2400" dirty="0">
                <a:solidFill>
                  <a:prstClr val="black"/>
                </a:solidFill>
                <a:latin typeface="TimesNewRomanPSMT"/>
              </a:rPr>
              <a:t>Yüreğim bağlandı + her bir sözüne,</a:t>
            </a:r>
          </a:p>
          <a:p>
            <a:pPr lvl="0">
              <a:buClr>
                <a:srgbClr val="2DA2BF"/>
              </a:buClr>
            </a:pPr>
            <a:r>
              <a:rPr lang="tr-TR" sz="2400" dirty="0">
                <a:solidFill>
                  <a:prstClr val="black"/>
                </a:solidFill>
                <a:latin typeface="TimesNewRomanPSMT"/>
              </a:rPr>
              <a:t>Kara kaşlarına,+ kara </a:t>
            </a:r>
            <a:r>
              <a:rPr lang="tr-TR" sz="2400" dirty="0" smtClean="0">
                <a:solidFill>
                  <a:prstClr val="black"/>
                </a:solidFill>
                <a:latin typeface="TimesNewRomanPSMT"/>
              </a:rPr>
              <a:t>gözüne</a:t>
            </a:r>
          </a:p>
          <a:p>
            <a:pPr lvl="0">
              <a:buClr>
                <a:srgbClr val="2DA2BF"/>
              </a:buClr>
            </a:pPr>
            <a:r>
              <a:rPr lang="tr-TR" sz="2400" dirty="0">
                <a:latin typeface="TimesNewRomanPSMT"/>
              </a:rPr>
              <a:t>Siyah kakülünü + dökmüş gözüne</a:t>
            </a:r>
            <a:r>
              <a:rPr lang="tr-TR" sz="2400" dirty="0" smtClean="0">
                <a:latin typeface="TimesNewRomanPSMT"/>
              </a:rPr>
              <a:t>,</a:t>
            </a:r>
          </a:p>
          <a:p>
            <a:r>
              <a:rPr lang="tr-TR" sz="2400" dirty="0">
                <a:latin typeface="TimesNewRomanPSMT"/>
              </a:rPr>
              <a:t>Uzanıp birkaç tel + çalasım geldi</a:t>
            </a:r>
          </a:p>
          <a:p>
            <a:r>
              <a:rPr lang="tr-TR" sz="2400" dirty="0">
                <a:latin typeface="TimesNewRomanPSMT"/>
              </a:rPr>
              <a:t>(Yusuf Ziya Ortaç</a:t>
            </a:r>
            <a:r>
              <a:rPr lang="tr-TR" sz="2400" dirty="0" smtClean="0">
                <a:latin typeface="TimesNewRomanPSMT"/>
              </a:rPr>
              <a:t>)</a:t>
            </a:r>
          </a:p>
          <a:p>
            <a:endParaRPr lang="tr-TR" sz="2400" dirty="0">
              <a:latin typeface="TimesNewRomanPSMT"/>
            </a:endParaRPr>
          </a:p>
          <a:p>
            <a:pPr marL="109728" indent="0">
              <a:buNone/>
            </a:pPr>
            <a:endParaRPr lang="tr-TR" sz="2400" dirty="0">
              <a:solidFill>
                <a:prstClr val="black"/>
              </a:solidFill>
            </a:endParaRP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475046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a:solidFill>
                  <a:srgbClr val="555555"/>
                </a:solidFill>
                <a:latin typeface="Arial" panose="020B0604020202020204" pitchFamily="34" charset="0"/>
                <a:cs typeface="Arial" panose="020B0604020202020204" pitchFamily="34" charset="0"/>
              </a:rPr>
              <a:t>Bu </a:t>
            </a:r>
            <a:r>
              <a:rPr lang="tr-TR" dirty="0" err="1">
                <a:solidFill>
                  <a:srgbClr val="555555"/>
                </a:solidFill>
                <a:latin typeface="Arial" panose="020B0604020202020204" pitchFamily="34" charset="0"/>
                <a:cs typeface="Arial" panose="020B0604020202020204" pitchFamily="34" charset="0"/>
              </a:rPr>
              <a:t>va</a:t>
            </a:r>
            <a:r>
              <a:rPr lang="tr-TR" dirty="0">
                <a:solidFill>
                  <a:srgbClr val="555555"/>
                </a:solidFill>
                <a:latin typeface="Arial" panose="020B0604020202020204" pitchFamily="34" charset="0"/>
                <a:cs typeface="Arial" panose="020B0604020202020204" pitchFamily="34" charset="0"/>
              </a:rPr>
              <a:t> tan top </a:t>
            </a:r>
            <a:r>
              <a:rPr lang="tr-TR" dirty="0" err="1">
                <a:solidFill>
                  <a:srgbClr val="555555"/>
                </a:solidFill>
                <a:latin typeface="Arial" panose="020B0604020202020204" pitchFamily="34" charset="0"/>
                <a:cs typeface="Arial" panose="020B0604020202020204" pitchFamily="34" charset="0"/>
              </a:rPr>
              <a:t>ra</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ğın</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ka</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ra</a:t>
            </a:r>
            <a:r>
              <a:rPr lang="tr-TR" dirty="0">
                <a:solidFill>
                  <a:srgbClr val="555555"/>
                </a:solidFill>
                <a:latin typeface="Arial" panose="020B0604020202020204" pitchFamily="34" charset="0"/>
                <a:cs typeface="Arial" panose="020B0604020202020204" pitchFamily="34" charset="0"/>
              </a:rPr>
              <a:t> bağ </a:t>
            </a:r>
            <a:r>
              <a:rPr lang="tr-TR" dirty="0" err="1">
                <a:solidFill>
                  <a:srgbClr val="555555"/>
                </a:solidFill>
                <a:latin typeface="Arial" panose="020B0604020202020204" pitchFamily="34" charset="0"/>
                <a:cs typeface="Arial" panose="020B0604020202020204" pitchFamily="34" charset="0"/>
              </a:rPr>
              <a:t>rın</a:t>
            </a:r>
            <a:r>
              <a:rPr lang="tr-TR" dirty="0">
                <a:solidFill>
                  <a:srgbClr val="555555"/>
                </a:solidFill>
                <a:latin typeface="Arial" panose="020B0604020202020204" pitchFamily="34" charset="0"/>
                <a:cs typeface="Arial" panose="020B0604020202020204" pitchFamily="34" charset="0"/>
              </a:rPr>
              <a:t> da -&gt;6+5=11'li hece ölçüsü</a:t>
            </a:r>
            <a:r>
              <a:rPr lang="tr-TR" dirty="0">
                <a:latin typeface="Arial" panose="020B0604020202020204" pitchFamily="34" charset="0"/>
                <a:cs typeface="Arial" panose="020B0604020202020204" pitchFamily="34" charset="0"/>
              </a:rPr>
              <a:t/>
            </a:r>
            <a:br>
              <a:rPr lang="tr-TR" dirty="0">
                <a:latin typeface="Arial" panose="020B0604020202020204" pitchFamily="34" charset="0"/>
                <a:cs typeface="Arial" panose="020B0604020202020204" pitchFamily="34" charset="0"/>
              </a:rPr>
            </a:br>
            <a:r>
              <a:rPr lang="tr-TR" dirty="0" err="1">
                <a:solidFill>
                  <a:srgbClr val="555555"/>
                </a:solidFill>
                <a:latin typeface="Arial" panose="020B0604020202020204" pitchFamily="34" charset="0"/>
                <a:cs typeface="Arial" panose="020B0604020202020204" pitchFamily="34" charset="0"/>
              </a:rPr>
              <a:t>Sı</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ra</a:t>
            </a:r>
            <a:r>
              <a:rPr lang="tr-TR" dirty="0">
                <a:solidFill>
                  <a:srgbClr val="555555"/>
                </a:solidFill>
                <a:latin typeface="Arial" panose="020B0604020202020204" pitchFamily="34" charset="0"/>
                <a:cs typeface="Arial" panose="020B0604020202020204" pitchFamily="34" charset="0"/>
              </a:rPr>
              <a:t> dağ </a:t>
            </a:r>
            <a:r>
              <a:rPr lang="tr-TR" dirty="0" err="1">
                <a:solidFill>
                  <a:srgbClr val="555555"/>
                </a:solidFill>
                <a:latin typeface="Arial" panose="020B0604020202020204" pitchFamily="34" charset="0"/>
                <a:cs typeface="Arial" panose="020B0604020202020204" pitchFamily="34" charset="0"/>
              </a:rPr>
              <a:t>lar</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gi</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bi</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du</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ran</a:t>
            </a:r>
            <a:r>
              <a:rPr lang="tr-TR" dirty="0">
                <a:solidFill>
                  <a:srgbClr val="555555"/>
                </a:solidFill>
                <a:latin typeface="Arial" panose="020B0604020202020204" pitchFamily="34" charset="0"/>
                <a:cs typeface="Arial" panose="020B0604020202020204" pitchFamily="34" charset="0"/>
              </a:rPr>
              <a:t> la </a:t>
            </a:r>
            <a:r>
              <a:rPr lang="tr-TR" dirty="0" err="1">
                <a:solidFill>
                  <a:srgbClr val="555555"/>
                </a:solidFill>
                <a:latin typeface="Arial" panose="020B0604020202020204" pitchFamily="34" charset="0"/>
                <a:cs typeface="Arial" panose="020B0604020202020204" pitchFamily="34" charset="0"/>
              </a:rPr>
              <a:t>rın</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dır</a:t>
            </a:r>
            <a:r>
              <a:rPr lang="tr-TR" dirty="0">
                <a:solidFill>
                  <a:srgbClr val="555555"/>
                </a:solidFill>
                <a:latin typeface="Arial" panose="020B0604020202020204" pitchFamily="34" charset="0"/>
                <a:cs typeface="Arial" panose="020B0604020202020204" pitchFamily="34" charset="0"/>
              </a:rPr>
              <a:t>       -&gt;&gt;6+5=11</a:t>
            </a:r>
            <a:r>
              <a:rPr lang="tr-TR" dirty="0">
                <a:latin typeface="Arial" panose="020B0604020202020204" pitchFamily="34" charset="0"/>
                <a:cs typeface="Arial" panose="020B0604020202020204" pitchFamily="34" charset="0"/>
              </a:rPr>
              <a:t/>
            </a:r>
            <a:br>
              <a:rPr lang="tr-TR" dirty="0">
                <a:latin typeface="Arial" panose="020B0604020202020204" pitchFamily="34" charset="0"/>
                <a:cs typeface="Arial" panose="020B0604020202020204" pitchFamily="34" charset="0"/>
              </a:rPr>
            </a:br>
            <a:r>
              <a:rPr lang="tr-TR" dirty="0">
                <a:solidFill>
                  <a:srgbClr val="555555"/>
                </a:solidFill>
                <a:latin typeface="Arial" panose="020B0604020202020204" pitchFamily="34" charset="0"/>
                <a:cs typeface="Arial" panose="020B0604020202020204" pitchFamily="34" charset="0"/>
              </a:rPr>
              <a:t>Bir ta </a:t>
            </a:r>
            <a:r>
              <a:rPr lang="tr-TR" dirty="0" err="1">
                <a:solidFill>
                  <a:srgbClr val="555555"/>
                </a:solidFill>
                <a:latin typeface="Arial" panose="020B0604020202020204" pitchFamily="34" charset="0"/>
                <a:cs typeface="Arial" panose="020B0604020202020204" pitchFamily="34" charset="0"/>
              </a:rPr>
              <a:t>rih</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bo</a:t>
            </a:r>
            <a:r>
              <a:rPr lang="tr-TR" dirty="0">
                <a:solidFill>
                  <a:srgbClr val="555555"/>
                </a:solidFill>
                <a:latin typeface="Arial" panose="020B0604020202020204" pitchFamily="34" charset="0"/>
                <a:cs typeface="Arial" panose="020B0604020202020204" pitchFamily="34" charset="0"/>
              </a:rPr>
              <a:t> yun </a:t>
            </a:r>
            <a:r>
              <a:rPr lang="tr-TR" dirty="0" err="1">
                <a:solidFill>
                  <a:srgbClr val="555555"/>
                </a:solidFill>
                <a:latin typeface="Arial" panose="020B0604020202020204" pitchFamily="34" charset="0"/>
                <a:cs typeface="Arial" panose="020B0604020202020204" pitchFamily="34" charset="0"/>
              </a:rPr>
              <a:t>ca</a:t>
            </a:r>
            <a:r>
              <a:rPr lang="tr-TR" dirty="0">
                <a:solidFill>
                  <a:srgbClr val="555555"/>
                </a:solidFill>
                <a:latin typeface="Arial" panose="020B0604020202020204" pitchFamily="34" charset="0"/>
                <a:cs typeface="Arial" panose="020B0604020202020204" pitchFamily="34" charset="0"/>
              </a:rPr>
              <a:t>/ o </a:t>
            </a:r>
            <a:r>
              <a:rPr lang="tr-TR" dirty="0" err="1">
                <a:solidFill>
                  <a:srgbClr val="555555"/>
                </a:solidFill>
                <a:latin typeface="Arial" panose="020B0604020202020204" pitchFamily="34" charset="0"/>
                <a:cs typeface="Arial" panose="020B0604020202020204" pitchFamily="34" charset="0"/>
              </a:rPr>
              <a:t>nun</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uğ</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run</a:t>
            </a:r>
            <a:r>
              <a:rPr lang="tr-TR" dirty="0">
                <a:solidFill>
                  <a:srgbClr val="555555"/>
                </a:solidFill>
                <a:latin typeface="Arial" panose="020B0604020202020204" pitchFamily="34" charset="0"/>
                <a:cs typeface="Arial" panose="020B0604020202020204" pitchFamily="34" charset="0"/>
              </a:rPr>
              <a:t> da   -&gt;&gt;6+5=11</a:t>
            </a:r>
            <a:r>
              <a:rPr lang="tr-TR" dirty="0">
                <a:latin typeface="Arial" panose="020B0604020202020204" pitchFamily="34" charset="0"/>
                <a:cs typeface="Arial" panose="020B0604020202020204" pitchFamily="34" charset="0"/>
              </a:rPr>
              <a:t/>
            </a:r>
            <a:br>
              <a:rPr lang="tr-TR" dirty="0">
                <a:latin typeface="Arial" panose="020B0604020202020204" pitchFamily="34" charset="0"/>
                <a:cs typeface="Arial" panose="020B0604020202020204" pitchFamily="34" charset="0"/>
              </a:rPr>
            </a:br>
            <a:r>
              <a:rPr lang="tr-TR" dirty="0" err="1">
                <a:solidFill>
                  <a:srgbClr val="555555"/>
                </a:solidFill>
                <a:latin typeface="Arial" panose="020B0604020202020204" pitchFamily="34" charset="0"/>
                <a:cs typeface="Arial" panose="020B0604020202020204" pitchFamily="34" charset="0"/>
              </a:rPr>
              <a:t>Ken</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di</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ni</a:t>
            </a:r>
            <a:r>
              <a:rPr lang="tr-TR" dirty="0">
                <a:solidFill>
                  <a:srgbClr val="555555"/>
                </a:solidFill>
                <a:latin typeface="Arial" panose="020B0604020202020204" pitchFamily="34" charset="0"/>
                <a:cs typeface="Arial" panose="020B0604020202020204" pitchFamily="34" charset="0"/>
              </a:rPr>
              <a:t> ta </a:t>
            </a:r>
            <a:r>
              <a:rPr lang="tr-TR" dirty="0" err="1">
                <a:solidFill>
                  <a:srgbClr val="555555"/>
                </a:solidFill>
                <a:latin typeface="Arial" panose="020B0604020202020204" pitchFamily="34" charset="0"/>
                <a:cs typeface="Arial" panose="020B0604020202020204" pitchFamily="34" charset="0"/>
              </a:rPr>
              <a:t>ri</a:t>
            </a:r>
            <a:r>
              <a:rPr lang="tr-TR" dirty="0">
                <a:solidFill>
                  <a:srgbClr val="555555"/>
                </a:solidFill>
                <a:latin typeface="Arial" panose="020B0604020202020204" pitchFamily="34" charset="0"/>
                <a:cs typeface="Arial" panose="020B0604020202020204" pitchFamily="34" charset="0"/>
              </a:rPr>
              <a:t> he/ ve ren le </a:t>
            </a:r>
            <a:r>
              <a:rPr lang="tr-TR" dirty="0" err="1">
                <a:solidFill>
                  <a:srgbClr val="555555"/>
                </a:solidFill>
                <a:latin typeface="Arial" panose="020B0604020202020204" pitchFamily="34" charset="0"/>
                <a:cs typeface="Arial" panose="020B0604020202020204" pitchFamily="34" charset="0"/>
              </a:rPr>
              <a:t>rin</a:t>
            </a:r>
            <a:r>
              <a:rPr lang="tr-TR" dirty="0">
                <a:solidFill>
                  <a:srgbClr val="555555"/>
                </a:solidFill>
                <a:latin typeface="Arial" panose="020B0604020202020204" pitchFamily="34" charset="0"/>
                <a:cs typeface="Arial" panose="020B0604020202020204" pitchFamily="34" charset="0"/>
              </a:rPr>
              <a:t> </a:t>
            </a:r>
            <a:r>
              <a:rPr lang="tr-TR" dirty="0" err="1">
                <a:solidFill>
                  <a:srgbClr val="555555"/>
                </a:solidFill>
                <a:latin typeface="Arial" panose="020B0604020202020204" pitchFamily="34" charset="0"/>
                <a:cs typeface="Arial" panose="020B0604020202020204" pitchFamily="34" charset="0"/>
              </a:rPr>
              <a:t>dir</a:t>
            </a:r>
            <a:r>
              <a:rPr lang="tr-TR" dirty="0">
                <a:solidFill>
                  <a:srgbClr val="555555"/>
                </a:solidFill>
                <a:latin typeface="Arial" panose="020B0604020202020204" pitchFamily="34" charset="0"/>
                <a:cs typeface="Arial" panose="020B0604020202020204" pitchFamily="34" charset="0"/>
              </a:rPr>
              <a:t>        -&gt;&gt;</a:t>
            </a:r>
            <a:r>
              <a:rPr lang="tr-TR" dirty="0" smtClean="0">
                <a:solidFill>
                  <a:srgbClr val="555555"/>
                </a:solidFill>
                <a:latin typeface="Arial" panose="020B0604020202020204" pitchFamily="34" charset="0"/>
                <a:cs typeface="Arial" panose="020B0604020202020204" pitchFamily="34" charset="0"/>
              </a:rPr>
              <a:t>6+5=11</a:t>
            </a:r>
          </a:p>
          <a:p>
            <a:r>
              <a:rPr lang="tr-TR" dirty="0" smtClean="0">
                <a:solidFill>
                  <a:srgbClr val="555555"/>
                </a:solidFill>
                <a:latin typeface="Arial" panose="020B0604020202020204" pitchFamily="34" charset="0"/>
                <a:cs typeface="Arial" panose="020B0604020202020204" pitchFamily="34" charset="0"/>
              </a:rPr>
              <a:t>(Orhan </a:t>
            </a:r>
            <a:r>
              <a:rPr lang="tr-TR" dirty="0" err="1" smtClean="0">
                <a:solidFill>
                  <a:srgbClr val="555555"/>
                </a:solidFill>
                <a:latin typeface="Arial" panose="020B0604020202020204" pitchFamily="34" charset="0"/>
                <a:cs typeface="Arial" panose="020B0604020202020204" pitchFamily="34" charset="0"/>
              </a:rPr>
              <a:t>Şaik</a:t>
            </a:r>
            <a:r>
              <a:rPr lang="tr-TR" dirty="0" smtClean="0">
                <a:solidFill>
                  <a:srgbClr val="555555"/>
                </a:solidFill>
                <a:latin typeface="Arial" panose="020B0604020202020204" pitchFamily="34" charset="0"/>
                <a:cs typeface="Arial" panose="020B0604020202020204" pitchFamily="34" charset="0"/>
              </a:rPr>
              <a:t> Gökyay)</a:t>
            </a:r>
            <a:endParaRPr lang="tr-TR" dirty="0">
              <a:latin typeface="Arial" panose="020B0604020202020204" pitchFamily="34" charset="0"/>
              <a:cs typeface="Arial" panose="020B0604020202020204" pitchFamily="34" charset="0"/>
            </a:endParaRP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2283327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smtClean="0"/>
              <a:t>Aruz vezni:</a:t>
            </a:r>
          </a:p>
          <a:p>
            <a:r>
              <a:rPr lang="tr-TR" dirty="0" smtClean="0"/>
              <a:t>Mısraların hece sayısını değil de hecelerin şeklini (</a:t>
            </a:r>
            <a:r>
              <a:rPr lang="tr-TR" dirty="0" err="1" smtClean="0"/>
              <a:t>uzunlık</a:t>
            </a:r>
            <a:r>
              <a:rPr lang="tr-TR" dirty="0" smtClean="0"/>
              <a:t>- kısalık, açıklık- kapalılık) esas alan nazım ölçüsünün </a:t>
            </a:r>
            <a:r>
              <a:rPr lang="tr-TR" dirty="0" err="1" smtClean="0"/>
              <a:t>adı.Bu</a:t>
            </a:r>
            <a:r>
              <a:rPr lang="tr-TR" dirty="0" smtClean="0"/>
              <a:t> ölçü sisteminden bahseden ilme de ölçü denmiştir. Araplara özgü bir ölçü sistemi olan aruz, onlardan İranlılara, oradan da bizim edebiyatımıza geçmiştir.</a:t>
            </a:r>
          </a:p>
          <a:p>
            <a:r>
              <a:rPr lang="tr-TR" dirty="0" smtClean="0"/>
              <a:t>Aruz birimlerine örnek: </a:t>
            </a:r>
            <a:r>
              <a:rPr lang="tr-TR" dirty="0" err="1" smtClean="0"/>
              <a:t>feÛlün</a:t>
            </a:r>
            <a:r>
              <a:rPr lang="tr-TR" dirty="0" smtClean="0"/>
              <a:t> </a:t>
            </a:r>
            <a:r>
              <a:rPr lang="tr-TR" dirty="0" err="1" smtClean="0"/>
              <a:t>fâilün</a:t>
            </a:r>
            <a:r>
              <a:rPr lang="tr-TR" dirty="0" smtClean="0"/>
              <a:t> </a:t>
            </a:r>
            <a:r>
              <a:rPr lang="tr-TR" dirty="0" err="1" smtClean="0"/>
              <a:t>fâilatün</a:t>
            </a:r>
            <a:r>
              <a:rPr lang="tr-TR" dirty="0" smtClean="0"/>
              <a:t> </a:t>
            </a:r>
            <a:r>
              <a:rPr lang="tr-TR" dirty="0" err="1" smtClean="0"/>
              <a:t>mefâilün</a:t>
            </a:r>
            <a:r>
              <a:rPr lang="tr-TR" dirty="0" smtClean="0"/>
              <a:t>… </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507924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smtClean="0"/>
              <a:t>Yeni şiirimiz içinde de aruz veznini başarıyla kullanan isimler vardır: Tevfik Fikret, Yahya Kemal Beyatlı, Mehmet </a:t>
            </a:r>
            <a:r>
              <a:rPr lang="tr-TR" sz="2400" dirty="0" err="1" smtClean="0"/>
              <a:t>Â</a:t>
            </a:r>
            <a:r>
              <a:rPr lang="tr-TR" dirty="0" err="1" smtClean="0"/>
              <a:t>kif</a:t>
            </a:r>
            <a:r>
              <a:rPr lang="tr-TR" dirty="0" smtClean="0"/>
              <a:t> Ersoy</a:t>
            </a:r>
          </a:p>
          <a:p>
            <a:r>
              <a:rPr lang="tr-TR" dirty="0" smtClean="0"/>
              <a:t>Divan şairlerinin tamamı aruz ölçüsü kullanmıştır.</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4163568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92500"/>
          </a:bodyPr>
          <a:lstStyle/>
          <a:p>
            <a:r>
              <a:rPr lang="tr-TR" sz="3200" b="1" dirty="0">
                <a:latin typeface="Times New Roman" panose="02020603050405020304" pitchFamily="18" charset="0"/>
              </a:rPr>
              <a:t>Kafiye (Uyak)</a:t>
            </a:r>
          </a:p>
          <a:p>
            <a:r>
              <a:rPr lang="tr-TR" sz="2800" dirty="0">
                <a:latin typeface="TimesNewRomanPSMT"/>
              </a:rPr>
              <a:t>Kafiye (uyak) şiirde ahengi ve ritmi sağlayan unsurlardan birisidir. Mısra sonlarındaki</a:t>
            </a:r>
          </a:p>
          <a:p>
            <a:r>
              <a:rPr lang="tr-TR" sz="2800" dirty="0">
                <a:latin typeface="TimesNewRomanPSMT"/>
              </a:rPr>
              <a:t>ses benzeşmesine kafiye denir. Bir tek ünsüzün benzeşmesinden meydana gelen yarım kafiye;</a:t>
            </a:r>
          </a:p>
          <a:p>
            <a:r>
              <a:rPr lang="tr-TR" sz="2800" dirty="0">
                <a:latin typeface="TimesNewRomanPSMT"/>
              </a:rPr>
              <a:t>bir ünlü bir ünsüz harf benzeşmesinden meydana gelen tam kafiye; ikiden fazla ses</a:t>
            </a:r>
          </a:p>
          <a:p>
            <a:r>
              <a:rPr lang="tr-TR" sz="2800" dirty="0">
                <a:latin typeface="TimesNewRomanPSMT"/>
              </a:rPr>
              <a:t>benzeşmesinden meydana gelen zengin kafiye gibi çeşitleri vardır</a:t>
            </a:r>
            <a:r>
              <a:rPr lang="tr-TR" sz="2800" dirty="0" smtClean="0">
                <a:latin typeface="TimesNewRomanPSMT"/>
              </a:rPr>
              <a:t>.</a:t>
            </a:r>
            <a:r>
              <a:rPr lang="tr-TR" sz="2800" dirty="0">
                <a:latin typeface="TimesNewRomanPSMT"/>
              </a:rPr>
              <a:t> Kafiyeden sonra tekrarlanan, aynı harflerden oluşan kelime veya eklere de </a:t>
            </a:r>
            <a:r>
              <a:rPr lang="tr-TR" sz="2800" b="1" dirty="0">
                <a:latin typeface="Times New Roman" panose="02020603050405020304" pitchFamily="18" charset="0"/>
              </a:rPr>
              <a:t>redif </a:t>
            </a:r>
            <a:r>
              <a:rPr lang="tr-TR" sz="2800" dirty="0">
                <a:latin typeface="Times New Roman" panose="02020603050405020304" pitchFamily="18" charset="0"/>
              </a:rPr>
              <a:t>denir.</a:t>
            </a:r>
            <a:endParaRPr lang="tr-TR" dirty="0"/>
          </a:p>
        </p:txBody>
      </p:sp>
      <p:sp>
        <p:nvSpPr>
          <p:cNvPr id="3" name="Unvan 2"/>
          <p:cNvSpPr>
            <a:spLocks noGrp="1"/>
          </p:cNvSpPr>
          <p:nvPr>
            <p:ph type="title"/>
          </p:nvPr>
        </p:nvSpPr>
        <p:spPr/>
        <p:txBody>
          <a:bodyPr/>
          <a:lstStyle/>
          <a:p>
            <a:endParaRPr lang="tr-TR" dirty="0"/>
          </a:p>
        </p:txBody>
      </p:sp>
    </p:spTree>
    <p:extLst>
      <p:ext uri="{BB962C8B-B14F-4D97-AF65-F5344CB8AC3E}">
        <p14:creationId xmlns:p14="http://schemas.microsoft.com/office/powerpoint/2010/main" val="3163296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92500" lnSpcReduction="10000"/>
          </a:bodyPr>
          <a:lstStyle/>
          <a:p>
            <a:r>
              <a:rPr lang="tr-TR" sz="2800" dirty="0">
                <a:latin typeface="TimesNewRomanPSMT"/>
              </a:rPr>
              <a:t>Yollarda kalan gözlerimin nurunu y</a:t>
            </a:r>
            <a:r>
              <a:rPr lang="tr-TR" sz="2800" i="1" dirty="0">
                <a:latin typeface="Times New Roman" panose="02020603050405020304" pitchFamily="18" charset="0"/>
              </a:rPr>
              <a:t>or</a:t>
            </a:r>
            <a:r>
              <a:rPr lang="tr-TR" sz="2800" dirty="0">
                <a:latin typeface="Times New Roman" panose="02020603050405020304" pitchFamily="18" charset="0"/>
              </a:rPr>
              <a:t>dum,</a:t>
            </a:r>
          </a:p>
          <a:p>
            <a:r>
              <a:rPr lang="tr-TR" sz="2800" dirty="0">
                <a:latin typeface="TimesNewRomanPSMT"/>
              </a:rPr>
              <a:t>Kimdir o, nasıldır diye rüzgârlara s</a:t>
            </a:r>
            <a:r>
              <a:rPr lang="tr-TR" sz="2800" i="1" dirty="0">
                <a:latin typeface="Times New Roman" panose="02020603050405020304" pitchFamily="18" charset="0"/>
              </a:rPr>
              <a:t>or</a:t>
            </a:r>
            <a:r>
              <a:rPr lang="tr-TR" sz="2800" dirty="0">
                <a:latin typeface="Times New Roman" panose="02020603050405020304" pitchFamily="18" charset="0"/>
              </a:rPr>
              <a:t>dum,</a:t>
            </a:r>
          </a:p>
          <a:p>
            <a:r>
              <a:rPr lang="tr-TR" sz="2800" dirty="0">
                <a:latin typeface="TimesNewRomanPSMT"/>
              </a:rPr>
              <a:t>Hülyamı tutan bir büyü var onda diy</a:t>
            </a:r>
            <a:r>
              <a:rPr lang="tr-TR" sz="2800" i="1" dirty="0">
                <a:latin typeface="Times New Roman" panose="02020603050405020304" pitchFamily="18" charset="0"/>
              </a:rPr>
              <a:t>or</a:t>
            </a:r>
            <a:r>
              <a:rPr lang="tr-TR" sz="2800" dirty="0">
                <a:latin typeface="Times New Roman" panose="02020603050405020304" pitchFamily="18" charset="0"/>
              </a:rPr>
              <a:t>dum,</a:t>
            </a:r>
          </a:p>
          <a:p>
            <a:r>
              <a:rPr lang="tr-TR" sz="2800" dirty="0">
                <a:latin typeface="TimesNewRomanPSMT"/>
              </a:rPr>
              <a:t>Gördüm: Dişi bir parsın ela gözleri vardı.</a:t>
            </a:r>
          </a:p>
          <a:p>
            <a:r>
              <a:rPr lang="tr-TR" sz="2800" dirty="0">
                <a:latin typeface="TimesNewRomanPSMT"/>
              </a:rPr>
              <a:t>(Yahya Kemal Beyatlı)</a:t>
            </a:r>
          </a:p>
          <a:p>
            <a:r>
              <a:rPr lang="tr-TR" sz="2800" dirty="0">
                <a:latin typeface="TimesNewRomanPSMT"/>
              </a:rPr>
              <a:t>Öldük ölümden bir şeyler umarak.</a:t>
            </a:r>
          </a:p>
          <a:p>
            <a:r>
              <a:rPr lang="tr-TR" sz="2800" dirty="0">
                <a:latin typeface="TimesNewRomanPSMT"/>
              </a:rPr>
              <a:t>Bir büyük boşlukta bozuldu </a:t>
            </a:r>
            <a:r>
              <a:rPr lang="tr-TR" sz="2800" i="1" dirty="0">
                <a:latin typeface="TimesNewRomanPS-ItalicMT"/>
              </a:rPr>
              <a:t>büyü</a:t>
            </a:r>
            <a:r>
              <a:rPr lang="tr-TR" sz="2800" dirty="0">
                <a:latin typeface="Times New Roman" panose="02020603050405020304" pitchFamily="18" charset="0"/>
              </a:rPr>
              <a:t>.</a:t>
            </a:r>
          </a:p>
          <a:p>
            <a:r>
              <a:rPr lang="tr-TR" sz="2800" dirty="0">
                <a:latin typeface="TimesNewRomanPSMT"/>
              </a:rPr>
              <a:t>Nasıl hatırlamazsın o </a:t>
            </a:r>
            <a:r>
              <a:rPr lang="tr-TR" sz="2800" i="1" dirty="0">
                <a:latin typeface="TimesNewRomanPS-ItalicMT"/>
              </a:rPr>
              <a:t>türküyü</a:t>
            </a:r>
            <a:r>
              <a:rPr lang="tr-TR" sz="2800" dirty="0">
                <a:latin typeface="Times New Roman" panose="02020603050405020304" pitchFamily="18" charset="0"/>
              </a:rPr>
              <a:t>,</a:t>
            </a:r>
          </a:p>
          <a:p>
            <a:r>
              <a:rPr lang="tr-TR" sz="2800" dirty="0">
                <a:latin typeface="TimesNewRomanPSMT"/>
              </a:rPr>
              <a:t>Gök parçası, dal demeti kuş </a:t>
            </a:r>
            <a:r>
              <a:rPr lang="tr-TR" sz="2800" i="1" dirty="0">
                <a:latin typeface="TimesNewRomanPS-ItalicMT"/>
              </a:rPr>
              <a:t>tüyü</a:t>
            </a:r>
            <a:r>
              <a:rPr lang="tr-TR" sz="2800" dirty="0">
                <a:latin typeface="Times New Roman" panose="02020603050405020304" pitchFamily="18" charset="0"/>
              </a:rPr>
              <a:t>,</a:t>
            </a:r>
          </a:p>
          <a:p>
            <a:r>
              <a:rPr lang="tr-TR" sz="2800" dirty="0">
                <a:latin typeface="TimesNewRomanPSMT"/>
              </a:rPr>
              <a:t>Alıştığımız bir şeydi yaşamak.</a:t>
            </a:r>
          </a:p>
          <a:p>
            <a:r>
              <a:rPr lang="tr-TR" sz="2800" dirty="0">
                <a:latin typeface="TimesNewRomanPSMT"/>
              </a:rPr>
              <a:t>(Cahit Sıtkı Tarancı</a:t>
            </a:r>
            <a:r>
              <a:rPr lang="tr-TR" sz="2800" dirty="0" smtClean="0">
                <a:latin typeface="TimesNewRomanPSMT"/>
              </a:rPr>
              <a:t>)</a:t>
            </a: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415267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a:bodyPr>
          <a:lstStyle/>
          <a:p>
            <a:pPr marL="109728" indent="0">
              <a:buNone/>
            </a:pPr>
            <a:r>
              <a:rPr lang="tr-TR" sz="3200" b="1" dirty="0" smtClean="0">
                <a:latin typeface="Times New Roman" panose="02020603050405020304" pitchFamily="18" charset="0"/>
              </a:rPr>
              <a:t>Aliterasyon</a:t>
            </a:r>
            <a:endParaRPr lang="tr-TR" sz="3200" b="1" dirty="0">
              <a:latin typeface="Times New Roman" panose="02020603050405020304" pitchFamily="18" charset="0"/>
            </a:endParaRPr>
          </a:p>
          <a:p>
            <a:r>
              <a:rPr lang="tr-TR" sz="2800" dirty="0">
                <a:latin typeface="TimesNewRomanPSMT"/>
              </a:rPr>
              <a:t>Şiiri oluşturan dizelerde belirli ünsüzlerin tekrarlanmasıyla meydana gelen uyuma</a:t>
            </a:r>
          </a:p>
          <a:p>
            <a:r>
              <a:rPr lang="tr-TR" sz="2800" dirty="0">
                <a:latin typeface="TimesNewRomanPSMT"/>
              </a:rPr>
              <a:t>aliterasyon denir. Aşağıdaki beyitte “d, n, y” ve “l, n, z” ünsüzlerinin tekrarı ile aliterasyon</a:t>
            </a:r>
          </a:p>
          <a:p>
            <a:r>
              <a:rPr lang="tr-TR" sz="2800" dirty="0">
                <a:latin typeface="TimesNewRomanPSMT"/>
              </a:rPr>
              <a:t>sağlanmış olur.</a:t>
            </a:r>
          </a:p>
          <a:p>
            <a:r>
              <a:rPr lang="tr-TR" sz="2800" i="1" dirty="0">
                <a:latin typeface="TimesNewRomanPS-ItalicMT"/>
              </a:rPr>
              <a:t>Dalgın duruyor rüzgârın ahengini dal dal</a:t>
            </a:r>
          </a:p>
          <a:p>
            <a:r>
              <a:rPr lang="tr-TR" sz="2800" i="1" dirty="0">
                <a:latin typeface="TimesNewRomanPS-ItalicMT"/>
              </a:rPr>
              <a:t>Baktım süzülüp geçti ufuktan iki sandal</a:t>
            </a:r>
          </a:p>
          <a:p>
            <a:r>
              <a:rPr lang="tr-TR" sz="2800" dirty="0">
                <a:latin typeface="TimesNewRomanPSMT"/>
              </a:rPr>
              <a:t>(Yahya Kemal Beyatlı)</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500075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77500" lnSpcReduction="20000"/>
          </a:bodyPr>
          <a:lstStyle/>
          <a:p>
            <a:pPr marL="109728" indent="0">
              <a:buNone/>
            </a:pPr>
            <a:r>
              <a:rPr lang="tr-TR" sz="3200" b="1" dirty="0" err="1" smtClean="0">
                <a:latin typeface="Times New Roman" panose="02020603050405020304" pitchFamily="18" charset="0"/>
              </a:rPr>
              <a:t>Asosans</a:t>
            </a:r>
            <a:endParaRPr lang="tr-TR" sz="3200" b="1" dirty="0">
              <a:latin typeface="Times New Roman" panose="02020603050405020304" pitchFamily="18" charset="0"/>
            </a:endParaRPr>
          </a:p>
          <a:p>
            <a:r>
              <a:rPr lang="tr-TR" sz="2800" dirty="0">
                <a:latin typeface="TimesNewRomanPSMT"/>
              </a:rPr>
              <a:t>Şiiri oluşturan dizelerdeki belli ünlü seslerin tekrarından oluşur. Bazen de dizedeki</a:t>
            </a:r>
          </a:p>
          <a:p>
            <a:r>
              <a:rPr lang="tr-TR" sz="2800" dirty="0">
                <a:latin typeface="TimesNewRomanPSMT"/>
              </a:rPr>
              <a:t>belirli ünlüler yanlarına birtakım ünsüzleri de alarak oluşturdukları hecelerin belli aralıklarla</a:t>
            </a:r>
          </a:p>
          <a:p>
            <a:r>
              <a:rPr lang="tr-TR" sz="2800" dirty="0">
                <a:latin typeface="TimesNewRomanPSMT"/>
              </a:rPr>
              <a:t>tekrarlanmasından meydana gelir. Aliterasyon ve asonansın bir arada kullanıldığı örnekler de</a:t>
            </a:r>
          </a:p>
          <a:p>
            <a:r>
              <a:rPr lang="tr-TR" sz="2800" dirty="0">
                <a:latin typeface="TimesNewRomanPSMT"/>
              </a:rPr>
              <a:t>vardır:</a:t>
            </a:r>
          </a:p>
          <a:p>
            <a:r>
              <a:rPr lang="tr-TR" sz="2800" i="1" dirty="0">
                <a:latin typeface="TimesNewRomanPS-ItalicMT"/>
              </a:rPr>
              <a:t>Bin altı akınlarda çocuklar gibi şendik.</a:t>
            </a:r>
          </a:p>
          <a:p>
            <a:r>
              <a:rPr lang="tr-TR" sz="2800" i="1" dirty="0">
                <a:latin typeface="TimesNewRomanPS-ItalicMT"/>
              </a:rPr>
              <a:t>Bin atlı o gün dev gibi bir orduyu yendik.</a:t>
            </a:r>
          </a:p>
          <a:p>
            <a:r>
              <a:rPr lang="tr-TR" sz="2800" dirty="0">
                <a:latin typeface="TimesNewRomanPSMT"/>
              </a:rPr>
              <a:t>(Yahya Kemal Beyatlı)</a:t>
            </a:r>
          </a:p>
          <a:p>
            <a:r>
              <a:rPr lang="tr-TR" sz="2800" dirty="0">
                <a:latin typeface="Times New Roman" panose="02020603050405020304" pitchFamily="18" charset="0"/>
              </a:rPr>
              <a:t>Savrul</a:t>
            </a:r>
            <a:r>
              <a:rPr lang="tr-TR" sz="2800" i="1" dirty="0">
                <a:latin typeface="Times New Roman" panose="02020603050405020304" pitchFamily="18" charset="0"/>
              </a:rPr>
              <a:t>mada </a:t>
            </a:r>
            <a:r>
              <a:rPr lang="tr-TR" sz="2800" dirty="0">
                <a:latin typeface="TimesNewRomanPSMT"/>
              </a:rPr>
              <a:t>gül şimdi </a:t>
            </a:r>
            <a:r>
              <a:rPr lang="tr-TR" sz="2800" dirty="0" err="1">
                <a:latin typeface="TimesNewRomanPSMT"/>
              </a:rPr>
              <a:t>havâ</a:t>
            </a:r>
            <a:r>
              <a:rPr lang="tr-TR" sz="2800" i="1" dirty="0" err="1">
                <a:latin typeface="Times New Roman" panose="02020603050405020304" pitchFamily="18" charset="0"/>
              </a:rPr>
              <a:t>da</a:t>
            </a:r>
            <a:endParaRPr lang="tr-TR" sz="2800" i="1" dirty="0">
              <a:latin typeface="Times New Roman" panose="02020603050405020304" pitchFamily="18" charset="0"/>
            </a:endParaRPr>
          </a:p>
          <a:p>
            <a:r>
              <a:rPr lang="tr-TR" sz="2800" dirty="0">
                <a:latin typeface="TimesNewRomanPSMT"/>
              </a:rPr>
              <a:t>Gün doğ</a:t>
            </a:r>
            <a:r>
              <a:rPr lang="tr-TR" sz="2800" i="1" dirty="0">
                <a:latin typeface="Times New Roman" panose="02020603050405020304" pitchFamily="18" charset="0"/>
              </a:rPr>
              <a:t>mada </a:t>
            </a:r>
            <a:r>
              <a:rPr lang="tr-TR" sz="2800" dirty="0">
                <a:latin typeface="TimesNewRomanPSMT"/>
              </a:rPr>
              <a:t>bir başka </a:t>
            </a:r>
            <a:r>
              <a:rPr lang="tr-TR" sz="2800" dirty="0" err="1">
                <a:latin typeface="TimesNewRomanPSMT"/>
              </a:rPr>
              <a:t>ziy</a:t>
            </a:r>
            <a:r>
              <a:rPr lang="tr-TR" sz="2800" i="1" dirty="0" err="1">
                <a:latin typeface="TimesNewRomanPS-ItalicMT"/>
              </a:rPr>
              <a:t>âda</a:t>
            </a:r>
            <a:endParaRPr lang="tr-TR" sz="2800" i="1" dirty="0">
              <a:latin typeface="TimesNewRomanPS-ItalicMT"/>
            </a:endParaRPr>
          </a:p>
          <a:p>
            <a:r>
              <a:rPr lang="tr-TR" sz="2800" dirty="0">
                <a:latin typeface="TimesNewRomanPSMT"/>
              </a:rPr>
              <a:t>(Ahmet Haşim)</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86361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Şiir, insanı bir ruh halinden başka bir ruh haline taşıyan büyülü bir yazıdır. Ses, ölçü ve kafiye gibi ahenk unsurlarıyla örülü ve güzel hayaller taşıyan sanatlı sözlerdir. Şiir, bir ikinci defa yaşanılmasına imkan olmayan bir anı, sonsuzlaştırmak; daha güzel bir dünyaya sığınmak; çevreyi ve hayatı güzelleştirmektir. Buna, Aşık Veysel'den bir örnek verelim:</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i="1" dirty="0"/>
              <a:t>Sen bir ceylan olsan ben de bir avcı                                                                                                                  Avlasam çöllerde saz ile seni                                                                                                                   Bulunmaz dermanı yoktur ilacı                                                                                                                    Vursam yaralasam söz ile seni</a:t>
            </a:r>
            <a:endParaRPr lang="tr-TR" dirty="0"/>
          </a:p>
          <a:p>
            <a:r>
              <a:rPr lang="tr-TR" i="1" dirty="0"/>
              <a:t>Veysel der ismini koymam dilimden                                                                                                                          Ayrı düştüm vatanımdan ilimden                                                                                                                       Kuş olsan da kurtulmazdın elimden                                                                                                                            Eğer görsem idi göz ile seni</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dirty="0"/>
              <a:t>Şiir, ruha seslenir, hayallere renk katar; hayatı mısralarda yaşatır. İnsan aradığı güzellikleri şiirde bulur. Şiir olmayan yerde insan sevgisi de yoktur. </a:t>
            </a:r>
            <a:r>
              <a:rPr lang="tr-TR" dirty="0" smtClean="0"/>
              <a:t>Mehmet </a:t>
            </a:r>
            <a:r>
              <a:rPr lang="tr-TR" smtClean="0"/>
              <a:t>Akif</a:t>
            </a:r>
            <a:r>
              <a:rPr lang="tr-TR"/>
              <a:t> </a:t>
            </a:r>
            <a:r>
              <a:rPr lang="tr-TR" smtClean="0"/>
              <a:t>Ersoy’un dizelerinde </a:t>
            </a:r>
            <a:r>
              <a:rPr lang="tr-TR" dirty="0"/>
              <a:t>bu sevgiyi bulabiliriz:</a:t>
            </a:r>
          </a:p>
          <a:p>
            <a:endParaRPr lang="tr-TR" dirty="0"/>
          </a:p>
        </p:txBody>
      </p:sp>
      <p:sp>
        <p:nvSpPr>
          <p:cNvPr id="2" name="1 Başlık"/>
          <p:cNvSpPr>
            <a:spLocks noGrp="1"/>
          </p:cNvSpPr>
          <p:nvPr>
            <p:ph type="title"/>
          </p:nvPr>
        </p:nvSpPr>
        <p:spPr/>
        <p:txBody>
          <a:bodyPr/>
          <a:lstStyle/>
          <a:p>
            <a:endParaRPr lang="tr-T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i="1" dirty="0"/>
              <a:t>Gitme ey yolcu beraber oturup ağlaşalım </a:t>
            </a:r>
            <a:endParaRPr lang="tr-TR" i="1" dirty="0" smtClean="0"/>
          </a:p>
          <a:p>
            <a:endParaRPr lang="tr-TR" i="1" dirty="0"/>
          </a:p>
          <a:p>
            <a:pPr>
              <a:buNone/>
            </a:pPr>
            <a:r>
              <a:rPr lang="tr-TR" i="1" dirty="0" smtClean="0"/>
              <a:t>    Elemim </a:t>
            </a:r>
            <a:r>
              <a:rPr lang="tr-TR" i="1" dirty="0"/>
              <a:t>bir yüreğin kârı değil, paylaşalım</a:t>
            </a:r>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dirty="0"/>
              <a:t>Şiir yazan ya da söyleyen kişiye şair denir. Gerçek şair, hayatımızı daha renkli, dünyamızı daha güzel canlı ve derinden duyabilen ve bize yaşama sevinci veren yaratıcı kişidir. Faik Baysal, "Şiir Hakkında" şiirinin son bölümünde şöyle söyler:</a:t>
            </a:r>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i="1" dirty="0"/>
              <a:t>"Şiirin bin bir tanımı yapılmıştır. Bundan sonra da yapılacaktır. </a:t>
            </a:r>
            <a:endParaRPr lang="tr-TR" dirty="0"/>
          </a:p>
          <a:p>
            <a:pPr>
              <a:buNone/>
            </a:pPr>
            <a:r>
              <a:rPr lang="tr-TR" i="1" dirty="0" smtClean="0"/>
              <a:t>    Ama </a:t>
            </a:r>
            <a:r>
              <a:rPr lang="tr-TR" i="1" dirty="0"/>
              <a:t>hiç kimse şiirin ne olduğunu anlatamayacaktır. </a:t>
            </a:r>
            <a:endParaRPr lang="tr-TR" dirty="0"/>
          </a:p>
          <a:p>
            <a:pPr>
              <a:buNone/>
            </a:pPr>
            <a:r>
              <a:rPr lang="tr-TR" i="1" dirty="0" smtClean="0"/>
              <a:t>    İnsanın </a:t>
            </a:r>
            <a:r>
              <a:rPr lang="tr-TR" i="1" dirty="0"/>
              <a:t>mutluluğunu amaçlamayan şiir yazıldığı gün ölmeye mahkumdur."</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dirty="0"/>
              <a:t>Mehmet Akif Ersoy da" Safahat" adlı şiir kitabının başında şiir görüşünü bir şiir ile dile getirir:</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lnSpcReduction="10000"/>
          </a:bodyPr>
          <a:lstStyle/>
          <a:p>
            <a:r>
              <a:rPr lang="tr-TR" i="1" dirty="0"/>
              <a:t>Bana sor sevgili kari, sana ben söyleyeyim; </a:t>
            </a:r>
            <a:br>
              <a:rPr lang="tr-TR" i="1" dirty="0"/>
            </a:br>
            <a:r>
              <a:rPr lang="tr-TR" i="1" dirty="0"/>
              <a:t>Ne hüviyette şu karşında duran </a:t>
            </a:r>
            <a:r>
              <a:rPr lang="tr-TR" i="1" dirty="0" err="1"/>
              <a:t>eşarım</a:t>
            </a:r>
            <a:r>
              <a:rPr lang="tr-TR" i="1" dirty="0"/>
              <a:t>. </a:t>
            </a:r>
            <a:br>
              <a:rPr lang="tr-TR" i="1" dirty="0"/>
            </a:br>
            <a:r>
              <a:rPr lang="tr-TR" i="1" dirty="0"/>
              <a:t>Bir yığın söz ki, samimiyeti ancak hüneri, </a:t>
            </a:r>
            <a:br>
              <a:rPr lang="tr-TR" i="1" dirty="0"/>
            </a:br>
            <a:r>
              <a:rPr lang="tr-TR" i="1" dirty="0"/>
              <a:t>Ne tasannu bilirim, çünkü ne sanatkarım. </a:t>
            </a:r>
            <a:br>
              <a:rPr lang="tr-TR" i="1" dirty="0"/>
            </a:br>
            <a:r>
              <a:rPr lang="tr-TR" i="1" dirty="0"/>
              <a:t>Şiir için gözyaşı derler, onu bilmem, yalnız, </a:t>
            </a:r>
            <a:br>
              <a:rPr lang="tr-TR" i="1" dirty="0"/>
            </a:br>
            <a:r>
              <a:rPr lang="tr-TR" i="1" dirty="0"/>
              <a:t>Aczimin </a:t>
            </a:r>
            <a:r>
              <a:rPr lang="tr-TR" i="1" dirty="0" err="1"/>
              <a:t>giryesidir</a:t>
            </a:r>
            <a:r>
              <a:rPr lang="tr-TR" i="1" dirty="0"/>
              <a:t> bence bütün asarım!</a:t>
            </a:r>
            <a:br>
              <a:rPr lang="tr-TR" i="1" dirty="0"/>
            </a:br>
            <a:r>
              <a:rPr lang="tr-TR" i="1" dirty="0"/>
              <a:t>Ağlarım, ağlatamam; hissederim, söyleyemem; </a:t>
            </a:r>
            <a:br>
              <a:rPr lang="tr-TR" i="1" dirty="0"/>
            </a:br>
            <a:r>
              <a:rPr lang="tr-TR" i="1" dirty="0"/>
              <a:t>Dili yok kalbimin, ondan ne kadar bizarım! </a:t>
            </a:r>
            <a:br>
              <a:rPr lang="tr-TR" i="1" dirty="0"/>
            </a:br>
            <a:r>
              <a:rPr lang="tr-TR" i="1" dirty="0"/>
              <a:t>Oku, şayet sana bir hisli yürek lazımsa </a:t>
            </a:r>
            <a:br>
              <a:rPr lang="tr-TR" i="1" dirty="0"/>
            </a:br>
            <a:r>
              <a:rPr lang="tr-TR" i="1" dirty="0"/>
              <a:t>Oku, zira onu yazdım iki söz yazdımsa.</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dirty="0"/>
              <a:t>Şiir, bir üslûp işidir; şiir yazıldığı dilin içindedir. Bir bakıma kelimelerle yeni bir dünya kurmaktır. Şair,  varlığını ulusunun diline borçlu olan bir insandır. Büyük bir kalabalığın yüzyıllar boyunca uğraşarak meydana getirdiği dili, şair güzel bir biçimde yazı haline sokar. </a:t>
            </a:r>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Böylelikle bir ilerleyişi ölümsüzleştirir. Dilin işleyişini gelecek kuşaklara aktarır. Dil güzelliği, şiire yaşama gücü katar. Sonsuzluğa varmak isteyen şiir, her zaman dilin yaşayan kelimeleri ile söylenmelidir. Bu durum şaire bir sorumluluk verir. Bir dilin en güzel şekli şiire yansımalıdır. </a:t>
            </a:r>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Yahya Kemal bu sorumluluğu üstlenmiş şairlerimizden biridir. Şiirlerindeki kelimeleri titizlikle seçer. Hatta rivayete  göre aşağıya aldığım şiirinde geçen "serin" sıfatını buluncaya kadar  sekiz yıl uğraşmıştır. </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a:bodyPr>
          <a:lstStyle/>
          <a:p>
            <a:r>
              <a:rPr lang="tr-TR" b="1" dirty="0"/>
              <a:t>RİNTLERİN ÖLÜMÜ</a:t>
            </a:r>
            <a:r>
              <a:rPr lang="tr-TR" dirty="0"/>
              <a:t/>
            </a:r>
            <a:br>
              <a:rPr lang="tr-TR" dirty="0"/>
            </a:br>
            <a:r>
              <a:rPr lang="tr-TR" dirty="0"/>
              <a:t/>
            </a:r>
            <a:br>
              <a:rPr lang="tr-TR" dirty="0"/>
            </a:br>
            <a:r>
              <a:rPr lang="tr-TR" i="1" dirty="0"/>
              <a:t>Hafız’ın kabri olan bahçede bir gül varmış.</a:t>
            </a:r>
            <a:br>
              <a:rPr lang="tr-TR" i="1" dirty="0"/>
            </a:br>
            <a:r>
              <a:rPr lang="tr-TR" i="1" dirty="0"/>
              <a:t>Yeniden her gün açarmış kanayan rengiyle,</a:t>
            </a:r>
            <a:br>
              <a:rPr lang="tr-TR" i="1" dirty="0"/>
            </a:br>
            <a:r>
              <a:rPr lang="tr-TR" i="1" dirty="0"/>
              <a:t>Gece bülbül ağaran vakte kadar ağlarmış.</a:t>
            </a:r>
            <a:br>
              <a:rPr lang="tr-TR" i="1" dirty="0"/>
            </a:br>
            <a:r>
              <a:rPr lang="tr-TR" i="1" dirty="0"/>
              <a:t>Eski Şiraz'ı hayal ettiren ahengiyle.</a:t>
            </a:r>
            <a:br>
              <a:rPr lang="tr-TR" i="1" dirty="0"/>
            </a:br>
            <a:r>
              <a:rPr lang="tr-TR" i="1" dirty="0"/>
              <a:t/>
            </a:r>
            <a:br>
              <a:rPr lang="tr-TR" i="1" dirty="0"/>
            </a:br>
            <a:r>
              <a:rPr lang="tr-TR" i="1" dirty="0"/>
              <a:t>Ölüm asude bahar ülkesidir bir rinde.</a:t>
            </a:r>
            <a:br>
              <a:rPr lang="tr-TR" i="1" dirty="0"/>
            </a:br>
            <a:r>
              <a:rPr lang="tr-TR" i="1" dirty="0"/>
              <a:t>Gönlü her yerde buhurdan gibi yıllarca tüter</a:t>
            </a:r>
            <a:br>
              <a:rPr lang="tr-TR" i="1" dirty="0"/>
            </a:br>
            <a:r>
              <a:rPr lang="tr-TR" i="1" dirty="0"/>
              <a:t>Ve serin serviler altında kalan kabrinde</a:t>
            </a:r>
            <a:br>
              <a:rPr lang="tr-TR" i="1" dirty="0"/>
            </a:br>
            <a:r>
              <a:rPr lang="tr-TR" i="1" dirty="0"/>
              <a:t>Her seher bir gül açar, her gece bir bülbül öter. </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683568" y="1700808"/>
            <a:ext cx="8229600" cy="3082354"/>
          </a:xfrm>
        </p:spPr>
        <p:txBody>
          <a:bodyPr>
            <a:normAutofit/>
          </a:bodyPr>
          <a:lstStyle/>
          <a:p>
            <a:r>
              <a:rPr lang="tr-TR" b="1" dirty="0"/>
              <a:t>ŞİİRİN </a:t>
            </a:r>
            <a:r>
              <a:rPr lang="tr-TR" b="1" dirty="0" err="1" smtClean="0"/>
              <a:t>ÖNEMi</a:t>
            </a:r>
            <a:endParaRPr lang="tr-T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Mehmet Emin Yurdakul, bir şiirinde şairin ve şiirin önemini şöyle ifade etmektedir:  </a:t>
            </a:r>
          </a:p>
          <a:p>
            <a:r>
              <a:rPr lang="tr-TR" i="1" dirty="0"/>
              <a:t>"Bırak beni haykırayım, susarsam sen matem et; </a:t>
            </a:r>
            <a:endParaRPr lang="tr-TR" i="1" dirty="0" smtClean="0"/>
          </a:p>
          <a:p>
            <a:pPr>
              <a:buNone/>
            </a:pPr>
            <a:r>
              <a:rPr lang="tr-TR" i="1" dirty="0" smtClean="0"/>
              <a:t>    Unutma </a:t>
            </a:r>
            <a:r>
              <a:rPr lang="tr-TR" i="1" dirty="0"/>
              <a:t>ki şairleri haykırmayan bir millet</a:t>
            </a:r>
            <a:r>
              <a:rPr lang="tr-TR" i="1" dirty="0" smtClean="0"/>
              <a:t>,</a:t>
            </a:r>
          </a:p>
          <a:p>
            <a:pPr>
              <a:buNone/>
            </a:pPr>
            <a:r>
              <a:rPr lang="tr-TR" i="1" dirty="0" smtClean="0"/>
              <a:t>                                                                                          </a:t>
            </a:r>
            <a:r>
              <a:rPr lang="tr-TR" i="1" dirty="0"/>
              <a:t>Sevenleri toprak olmuş öksüz bir çocuk gibidir."</a:t>
            </a:r>
            <a:endParaRPr lang="tr-TR" dirty="0"/>
          </a:p>
          <a:p>
            <a:pPr>
              <a:buNone/>
            </a:pPr>
            <a:r>
              <a:rPr lang="tr-TR" i="1" dirty="0"/>
              <a:t> </a:t>
            </a:r>
            <a:endParaRPr lang="tr-TR" dirty="0"/>
          </a:p>
          <a:p>
            <a:endParaRPr lang="tr-TR" i="1" dirty="0" smtClean="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dirty="0" err="1"/>
              <a:t>Abdülhak</a:t>
            </a:r>
            <a:r>
              <a:rPr lang="tr-TR" dirty="0"/>
              <a:t> Şinasi Hisar da "Geçmiş Zaman Edipleri" kitabında şiirin ve şairin önemine değinir:</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lnSpcReduction="10000"/>
          </a:bodyPr>
          <a:lstStyle/>
          <a:p>
            <a:r>
              <a:rPr lang="tr-TR" i="1" dirty="0"/>
              <a:t>"İnsanlar mırıldanır, </a:t>
            </a:r>
            <a:r>
              <a:rPr lang="tr-TR" i="1" dirty="0" err="1"/>
              <a:t>fısıldaşır</a:t>
            </a:r>
            <a:r>
              <a:rPr lang="tr-TR" i="1" dirty="0"/>
              <a:t>, yalvarır, içini çeker, sayıklar, söyler, teganni eder, güler, bağırır, haykırır, hıçkırır ağlar. Fakat bu sesler sağır ve dilsiz zaman içinde hiçbir aksi seda uyandırmaz. Arada sırada bir şair gelir ve yalnız kendi zamanının değil, bazen kendisinden evvelki ve bazen kendisinden sonraki zamanların içinden bile bütün bu sesleri tarar, toplar bir hoparlör gibi büyütür ve döker; herkes ondan hislerinin büyümüş ve edebiyat karşısında ilahlaşmış şeklini bulur."</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Aynı kitaptan başka bir söz:	</a:t>
            </a:r>
          </a:p>
          <a:p>
            <a:r>
              <a:rPr lang="tr-TR" i="1" dirty="0"/>
              <a:t>"Şair odur ki ondan gelen sözler ve sesler çorak ruhumuza ılık bir rahmet gibi yağar ve en mahrem iklimimizde aşkımızın, zevkimizin, neşemizin ve tesellimizin çiçeklerini açar."</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b="1" dirty="0"/>
              <a:t>Şair, toplumun sözcüsü olduğu gibi bizim duygularımıza da tercüman olur. Aynı zamanda çağının tanığıdır. Fuzuli'nin  " </a:t>
            </a:r>
            <a:r>
              <a:rPr lang="tr-TR" b="1" dirty="0" smtClean="0"/>
              <a:t>Şikayetnamesinde </a:t>
            </a:r>
            <a:r>
              <a:rPr lang="tr-TR" b="1" dirty="0"/>
              <a:t>geçen </a:t>
            </a:r>
            <a:r>
              <a:rPr lang="tr-TR" b="1" i="1" dirty="0"/>
              <a:t>"</a:t>
            </a:r>
            <a:r>
              <a:rPr lang="tr-TR" i="1" dirty="0"/>
              <a:t>Selam verdim, rüşvet değildir diye almadılar." </a:t>
            </a:r>
            <a:r>
              <a:rPr lang="tr-TR" dirty="0"/>
              <a:t>onun devrinde yaşananların en önemli kanıtıdır.</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endParaRPr lang="tr-TR" dirty="0"/>
          </a:p>
          <a:p>
            <a:r>
              <a:rPr lang="tr-TR" dirty="0" smtClean="0"/>
              <a:t>Batı </a:t>
            </a:r>
            <a:r>
              <a:rPr lang="tr-TR" dirty="0"/>
              <a:t>edebiyatında Yunan ve Latin edebiyatlarından alınan klasik sınıflamaya uyularak şiir altı türe ayrılır:  </a:t>
            </a:r>
          </a:p>
          <a:p>
            <a:endParaRPr lang="tr-TR" dirty="0"/>
          </a:p>
        </p:txBody>
      </p:sp>
      <p:sp>
        <p:nvSpPr>
          <p:cNvPr id="2" name="1 Başlık"/>
          <p:cNvSpPr>
            <a:spLocks noGrp="1"/>
          </p:cNvSpPr>
          <p:nvPr>
            <p:ph type="title"/>
          </p:nvPr>
        </p:nvSpPr>
        <p:spPr/>
        <p:txBody>
          <a:bodyPr>
            <a:normAutofit fontScale="90000"/>
          </a:bodyPr>
          <a:lstStyle/>
          <a:p>
            <a:r>
              <a:rPr lang="tr-TR" b="1" dirty="0" smtClean="0"/>
              <a:t>KONULARINA GÖRE ŞİİR TÜRLERİ</a:t>
            </a:r>
            <a:r>
              <a:rPr lang="tr-TR" dirty="0" smtClean="0"/>
              <a:t/>
            </a:r>
            <a:br>
              <a:rPr lang="tr-TR" dirty="0" smtClean="0"/>
            </a:br>
            <a:endParaRPr lang="tr-T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1.Epik  şiir</a:t>
            </a:r>
          </a:p>
          <a:p>
            <a:r>
              <a:rPr lang="tr-TR" dirty="0"/>
              <a:t>2.Lirik  şiir</a:t>
            </a:r>
          </a:p>
          <a:p>
            <a:r>
              <a:rPr lang="tr-TR" dirty="0"/>
              <a:t>3.Didaktik  şiir</a:t>
            </a:r>
          </a:p>
          <a:p>
            <a:r>
              <a:rPr lang="tr-TR" dirty="0"/>
              <a:t>4.Pastoral   şiir</a:t>
            </a:r>
          </a:p>
          <a:p>
            <a:r>
              <a:rPr lang="tr-TR" dirty="0"/>
              <a:t>5.Dramatik  şiir</a:t>
            </a:r>
          </a:p>
          <a:p>
            <a:r>
              <a:rPr lang="tr-TR" dirty="0"/>
              <a:t>6.Satirik    şiir</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Yurt sevgisi, inanç, insanlık gibi ana duyguların yiğitlik duygusu ile birleştiği şiirdir. Doğal ve yapma destanlar, epik şiirin en tipik örnekleridir.                                                                                        Antik Yunan'da söz anlamına gelen </a:t>
            </a:r>
            <a:r>
              <a:rPr lang="tr-TR" b="1" dirty="0" err="1"/>
              <a:t>epos</a:t>
            </a:r>
            <a:r>
              <a:rPr lang="tr-TR" dirty="0" err="1"/>
              <a:t>'tan</a:t>
            </a:r>
            <a:r>
              <a:rPr lang="tr-TR" dirty="0"/>
              <a:t> türeyen </a:t>
            </a:r>
            <a:r>
              <a:rPr lang="tr-TR" b="1" dirty="0"/>
              <a:t>epope</a:t>
            </a:r>
            <a:r>
              <a:rPr lang="tr-TR" dirty="0"/>
              <a:t> "kahramanlık olaylarının anlatıldığı uzun şiir, destan karşılığı kullanılırdı.</a:t>
            </a:r>
          </a:p>
          <a:p>
            <a:endParaRPr lang="tr-TR" dirty="0"/>
          </a:p>
          <a:p>
            <a:endParaRPr lang="tr-TR" dirty="0"/>
          </a:p>
        </p:txBody>
      </p:sp>
      <p:sp>
        <p:nvSpPr>
          <p:cNvPr id="2" name="1 Başlık"/>
          <p:cNvSpPr>
            <a:spLocks noGrp="1"/>
          </p:cNvSpPr>
          <p:nvPr>
            <p:ph type="title"/>
          </p:nvPr>
        </p:nvSpPr>
        <p:spPr/>
        <p:txBody>
          <a:bodyPr>
            <a:normAutofit fontScale="90000"/>
          </a:bodyPr>
          <a:lstStyle/>
          <a:p>
            <a:r>
              <a:rPr lang="tr-TR" b="1" dirty="0"/>
              <a:t>EPİK ŞİİR</a:t>
            </a:r>
            <a:r>
              <a:rPr lang="tr-TR" dirty="0"/>
              <a:t/>
            </a:r>
            <a:br>
              <a:rPr lang="tr-TR" dirty="0"/>
            </a:br>
            <a:endParaRPr lang="tr-T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85000" lnSpcReduction="20000"/>
          </a:bodyPr>
          <a:lstStyle/>
          <a:p>
            <a:r>
              <a:rPr lang="tr-TR" dirty="0"/>
              <a:t>Yelkenler biçilecek, yelkenler dikilecek; </a:t>
            </a:r>
            <a:br>
              <a:rPr lang="tr-TR" dirty="0"/>
            </a:br>
            <a:r>
              <a:rPr lang="tr-TR" dirty="0"/>
              <a:t>Dağlardan çektiler, kalyonlar çekilecek.</a:t>
            </a:r>
            <a:br>
              <a:rPr lang="tr-TR" dirty="0"/>
            </a:br>
            <a:r>
              <a:rPr lang="tr-TR" dirty="0"/>
              <a:t>Kerpetenlerle surun dişleri sökülecek.</a:t>
            </a:r>
            <a:br>
              <a:rPr lang="tr-TR" dirty="0"/>
            </a:br>
            <a:r>
              <a:rPr lang="tr-TR" dirty="0"/>
              <a:t/>
            </a:r>
            <a:br>
              <a:rPr lang="tr-TR" dirty="0"/>
            </a:br>
            <a:r>
              <a:rPr lang="tr-TR" dirty="0"/>
              <a:t>Yürü: "Hâlâ ne diye oyunda oynaştasın?"</a:t>
            </a:r>
            <a:br>
              <a:rPr lang="tr-TR" dirty="0"/>
            </a:br>
            <a:r>
              <a:rPr lang="tr-TR" dirty="0"/>
              <a:t>Fatih’in İstanbul’u fethettiği yaştasın! </a:t>
            </a:r>
            <a:br>
              <a:rPr lang="tr-TR" dirty="0"/>
            </a:br>
            <a:r>
              <a:rPr lang="tr-TR" dirty="0"/>
              <a:t/>
            </a:r>
            <a:br>
              <a:rPr lang="tr-TR" dirty="0"/>
            </a:br>
            <a:r>
              <a:rPr lang="tr-TR" dirty="0"/>
              <a:t/>
            </a:r>
            <a:br>
              <a:rPr lang="tr-TR" dirty="0"/>
            </a:br>
            <a:r>
              <a:rPr lang="tr-TR" dirty="0"/>
              <a:t>Bu kitaplar Fatih’tir, Selim’dir, Süleyman’dır; </a:t>
            </a:r>
            <a:br>
              <a:rPr lang="tr-TR" dirty="0"/>
            </a:br>
            <a:r>
              <a:rPr lang="tr-TR" dirty="0"/>
              <a:t>Şu mihrap </a:t>
            </a:r>
            <a:r>
              <a:rPr lang="tr-TR" dirty="0" err="1"/>
              <a:t>Sinanüddin</a:t>
            </a:r>
            <a:r>
              <a:rPr lang="tr-TR" dirty="0"/>
              <a:t>, şu minare Sinan’dır;</a:t>
            </a:r>
            <a:br>
              <a:rPr lang="tr-TR" dirty="0"/>
            </a:br>
            <a:r>
              <a:rPr lang="tr-TR" dirty="0"/>
              <a:t>Haydi, artık, uyuyan destanını uyandır! </a:t>
            </a:r>
            <a:br>
              <a:rPr lang="tr-TR" dirty="0"/>
            </a:br>
            <a:r>
              <a:rPr lang="tr-TR" dirty="0"/>
              <a:t/>
            </a:r>
            <a:br>
              <a:rPr lang="tr-TR" dirty="0"/>
            </a:br>
            <a:r>
              <a:rPr lang="tr-TR" dirty="0"/>
              <a:t>Bilmem neden gündelik işlerle telaştasın? </a:t>
            </a:r>
            <a:br>
              <a:rPr lang="tr-TR" dirty="0"/>
            </a:br>
            <a:r>
              <a:rPr lang="tr-TR" dirty="0"/>
              <a:t>Kızım, sen de Fatihler doğuracak yaştasın; </a:t>
            </a:r>
            <a:br>
              <a:rPr lang="tr-TR" dirty="0"/>
            </a:br>
            <a:endParaRPr lang="tr-TR" dirty="0"/>
          </a:p>
        </p:txBody>
      </p:sp>
      <p:sp>
        <p:nvSpPr>
          <p:cNvPr id="2" name="1 Başlık"/>
          <p:cNvSpPr>
            <a:spLocks noGrp="1"/>
          </p:cNvSpPr>
          <p:nvPr>
            <p:ph type="title"/>
          </p:nvPr>
        </p:nvSpPr>
        <p:spPr/>
        <p:txBody>
          <a:bodyPr>
            <a:normAutofit fontScale="90000"/>
          </a:bodyPr>
          <a:lstStyle/>
          <a:p>
            <a:r>
              <a:rPr lang="tr-TR" dirty="0"/>
              <a:t>FETİH MARŞI</a:t>
            </a:r>
            <a:br>
              <a:rPr lang="tr-TR" dirty="0"/>
            </a:br>
            <a:endParaRPr lang="tr-T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lnSpcReduction="20000"/>
          </a:bodyPr>
          <a:lstStyle/>
          <a:p>
            <a:r>
              <a:rPr lang="tr-TR" dirty="0"/>
              <a:t>Delikanlım, işaret aldığın gün atandan</a:t>
            </a:r>
            <a:br>
              <a:rPr lang="tr-TR" dirty="0"/>
            </a:br>
            <a:r>
              <a:rPr lang="tr-TR" dirty="0"/>
              <a:t>Yürüyeceksin... Millet yürüyecek arkandan. </a:t>
            </a:r>
            <a:br>
              <a:rPr lang="tr-TR" dirty="0"/>
            </a:br>
            <a:r>
              <a:rPr lang="tr-TR" dirty="0"/>
              <a:t>Sana selam getirdim </a:t>
            </a:r>
            <a:r>
              <a:rPr lang="tr-TR" dirty="0" err="1"/>
              <a:t>Ulubatlı</a:t>
            </a:r>
            <a:r>
              <a:rPr lang="tr-TR" dirty="0"/>
              <a:t> Hasan’dan.</a:t>
            </a:r>
            <a:br>
              <a:rPr lang="tr-TR" dirty="0"/>
            </a:br>
            <a:r>
              <a:rPr lang="tr-TR" dirty="0"/>
              <a:t/>
            </a:r>
            <a:br>
              <a:rPr lang="tr-TR" dirty="0"/>
            </a:br>
            <a:r>
              <a:rPr lang="tr-TR" dirty="0"/>
              <a:t>Sen ki burçlara bayrak olacak kumaştasın. </a:t>
            </a:r>
            <a:br>
              <a:rPr lang="tr-TR" dirty="0"/>
            </a:br>
            <a:r>
              <a:rPr lang="tr-TR" dirty="0"/>
              <a:t>Fatih’in İstanbul’u fethettiği yaştasın! </a:t>
            </a:r>
            <a:br>
              <a:rPr lang="tr-TR" dirty="0"/>
            </a:br>
            <a:r>
              <a:rPr lang="tr-TR" dirty="0"/>
              <a:t/>
            </a:r>
            <a:br>
              <a:rPr lang="tr-TR" dirty="0"/>
            </a:br>
            <a:r>
              <a:rPr lang="tr-TR" dirty="0"/>
              <a:t>Bırak, bozuk saatler yalan yanlış işlesin!</a:t>
            </a:r>
            <a:br>
              <a:rPr lang="tr-TR" dirty="0"/>
            </a:br>
            <a:r>
              <a:rPr lang="tr-TR" dirty="0"/>
              <a:t>Çelebiler çekilip haremlerde kışlasın!</a:t>
            </a:r>
            <a:br>
              <a:rPr lang="tr-TR" dirty="0"/>
            </a:br>
            <a:r>
              <a:rPr lang="tr-TR" dirty="0"/>
              <a:t>Yürü, aslanım, fetih hazırlığı başlasın. </a:t>
            </a:r>
            <a:br>
              <a:rPr lang="tr-TR" dirty="0"/>
            </a:br>
            <a:r>
              <a:rPr lang="tr-TR" dirty="0"/>
              <a:t/>
            </a:r>
            <a:br>
              <a:rPr lang="tr-TR" dirty="0"/>
            </a:br>
            <a:r>
              <a:rPr lang="tr-TR" dirty="0"/>
              <a:t>Yürü, hâlâ ne diye, kendinle savaştasın? </a:t>
            </a:r>
            <a:br>
              <a:rPr lang="tr-TR" dirty="0"/>
            </a:br>
            <a:r>
              <a:rPr lang="tr-TR" dirty="0"/>
              <a:t>Fatih’in İstanbul’u fethettiği yaştasın! </a:t>
            </a:r>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Duyguları ve düşünceleri duygulu bir şekilde anlatan şiir çeşididir. Eski Yunan edebiyatında şairler şiirlerini  LYRA (lir) dedikleri bir sazla söyledikleri için, bu türlü şiirlere lirik denmiştir. Türk edebiyatında da âşık denilen halk şairleri şiirlerini hâlâ sazla söylemektedirler. Bu şiir türüne örnek olarak Sezai Karakoç'un "Sürgün Ülkeden Başkentler Başkentine" şiirinden bir alıntı yapıyorum:</a:t>
            </a:r>
          </a:p>
          <a:p>
            <a:endParaRPr lang="tr-TR" dirty="0"/>
          </a:p>
        </p:txBody>
      </p:sp>
      <p:sp>
        <p:nvSpPr>
          <p:cNvPr id="2" name="1 Başlık"/>
          <p:cNvSpPr>
            <a:spLocks noGrp="1"/>
          </p:cNvSpPr>
          <p:nvPr>
            <p:ph type="title"/>
          </p:nvPr>
        </p:nvSpPr>
        <p:spPr/>
        <p:txBody>
          <a:bodyPr>
            <a:normAutofit fontScale="90000"/>
          </a:bodyPr>
          <a:lstStyle/>
          <a:p>
            <a:r>
              <a:rPr lang="tr-TR" b="1" dirty="0"/>
              <a:t>2.LİRİK  ŞİİR</a:t>
            </a:r>
            <a:r>
              <a:rPr lang="tr-TR" dirty="0"/>
              <a:t/>
            </a:r>
            <a:br>
              <a:rPr lang="tr-TR" dirty="0"/>
            </a:br>
            <a:endParaRPr lang="tr-T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...Ülkendeki kuşlardan ne haber vardır</a:t>
            </a:r>
          </a:p>
          <a:p>
            <a:pPr>
              <a:buNone/>
            </a:pPr>
            <a:r>
              <a:rPr lang="tr-TR" dirty="0" smtClean="0"/>
              <a:t>    </a:t>
            </a:r>
            <a:r>
              <a:rPr lang="tr-TR" dirty="0"/>
              <a:t>Mezarlardan bile yükselen bir bahar vardır</a:t>
            </a:r>
          </a:p>
          <a:p>
            <a:pPr>
              <a:buNone/>
            </a:pPr>
            <a:r>
              <a:rPr lang="tr-TR" dirty="0" smtClean="0"/>
              <a:t>    </a:t>
            </a:r>
            <a:r>
              <a:rPr lang="tr-TR" dirty="0"/>
              <a:t>Aşk celladından ne çıkar mademki yâr vardır</a:t>
            </a:r>
          </a:p>
          <a:p>
            <a:pPr>
              <a:buNone/>
            </a:pPr>
            <a:r>
              <a:rPr lang="tr-TR" dirty="0" smtClean="0"/>
              <a:t>    </a:t>
            </a:r>
            <a:r>
              <a:rPr lang="tr-TR" dirty="0"/>
              <a:t>Yoktan da vardan da öte bir Var </a:t>
            </a:r>
            <a:r>
              <a:rPr lang="tr-TR" dirty="0" smtClean="0"/>
              <a:t>vardır.</a:t>
            </a:r>
            <a:endParaRPr lang="tr-TR" dirty="0"/>
          </a:p>
          <a:p>
            <a:pPr>
              <a:buNone/>
            </a:pPr>
            <a:r>
              <a:rPr lang="tr-TR" dirty="0" smtClean="0"/>
              <a:t>    </a:t>
            </a:r>
            <a:r>
              <a:rPr lang="tr-TR" dirty="0"/>
              <a:t>Hep suç bende değil beni yakıp yıkan bir nazar </a:t>
            </a:r>
            <a:r>
              <a:rPr lang="tr-TR" dirty="0" smtClean="0"/>
              <a:t>vardır.</a:t>
            </a:r>
            <a:endParaRPr lang="tr-TR" dirty="0"/>
          </a:p>
          <a:p>
            <a:pPr>
              <a:buNone/>
            </a:pPr>
            <a:r>
              <a:rPr lang="tr-TR" dirty="0" smtClean="0"/>
              <a:t>    </a:t>
            </a:r>
            <a:r>
              <a:rPr lang="tr-TR" dirty="0"/>
              <a:t>O şarkıya özenip söylenecek mısralar </a:t>
            </a:r>
            <a:r>
              <a:rPr lang="tr-TR" dirty="0" smtClean="0"/>
              <a:t>vardır.</a:t>
            </a:r>
            <a:endParaRPr lang="tr-TR" dirty="0"/>
          </a:p>
          <a:p>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70000" lnSpcReduction="20000"/>
          </a:bodyPr>
          <a:lstStyle/>
          <a:p>
            <a:r>
              <a:rPr lang="tr-TR" dirty="0"/>
              <a:t> Sakın kader deme kaderin üstünde bir kader </a:t>
            </a:r>
            <a:r>
              <a:rPr lang="tr-TR" dirty="0" smtClean="0"/>
              <a:t>vardır</a:t>
            </a:r>
          </a:p>
          <a:p>
            <a:pPr>
              <a:buNone/>
            </a:pPr>
            <a:r>
              <a:rPr lang="tr-TR" dirty="0"/>
              <a:t> </a:t>
            </a:r>
            <a:r>
              <a:rPr lang="tr-TR" dirty="0" smtClean="0"/>
              <a:t>      </a:t>
            </a:r>
            <a:r>
              <a:rPr lang="tr-TR" dirty="0"/>
              <a:t>Ne yapsalar boş göklerden gelen bir karar vardır</a:t>
            </a:r>
          </a:p>
          <a:p>
            <a:pPr>
              <a:buNone/>
            </a:pPr>
            <a:r>
              <a:rPr lang="tr-TR" dirty="0" smtClean="0"/>
              <a:t>       </a:t>
            </a:r>
            <a:r>
              <a:rPr lang="tr-TR" dirty="0"/>
              <a:t>Gün batsa ne olur geceyi onaran bir mimar vardır</a:t>
            </a:r>
          </a:p>
          <a:p>
            <a:pPr>
              <a:buNone/>
            </a:pPr>
            <a:r>
              <a:rPr lang="tr-TR" dirty="0" smtClean="0"/>
              <a:t>       </a:t>
            </a:r>
            <a:r>
              <a:rPr lang="tr-TR" dirty="0"/>
              <a:t>Yanmışsam külümden yapılan bir hisar vardır</a:t>
            </a:r>
          </a:p>
          <a:p>
            <a:pPr>
              <a:buNone/>
            </a:pPr>
            <a:r>
              <a:rPr lang="tr-TR" dirty="0" smtClean="0"/>
              <a:t>       </a:t>
            </a:r>
            <a:r>
              <a:rPr lang="tr-TR" dirty="0"/>
              <a:t>Yenilgi yenilgi büyüyen bir zafer vardır</a:t>
            </a:r>
          </a:p>
          <a:p>
            <a:pPr>
              <a:buNone/>
            </a:pPr>
            <a:r>
              <a:rPr lang="tr-TR" dirty="0" smtClean="0"/>
              <a:t>       </a:t>
            </a:r>
            <a:r>
              <a:rPr lang="tr-TR" dirty="0"/>
              <a:t>Sırların sırrına ermek için sende anahtar vardır</a:t>
            </a:r>
          </a:p>
          <a:p>
            <a:pPr>
              <a:buNone/>
            </a:pPr>
            <a:r>
              <a:rPr lang="tr-TR" dirty="0" smtClean="0"/>
              <a:t>       </a:t>
            </a:r>
            <a:r>
              <a:rPr lang="tr-TR" dirty="0"/>
              <a:t>Göğsünde sürgününü geri çağıran bir damar </a:t>
            </a:r>
            <a:r>
              <a:rPr lang="tr-TR" dirty="0" smtClean="0"/>
              <a:t>vardır</a:t>
            </a:r>
          </a:p>
          <a:p>
            <a:pPr>
              <a:buNone/>
            </a:pPr>
            <a:r>
              <a:rPr lang="tr-TR" dirty="0"/>
              <a:t> </a:t>
            </a:r>
            <a:r>
              <a:rPr lang="tr-TR" dirty="0" smtClean="0"/>
              <a:t>      </a:t>
            </a:r>
            <a:r>
              <a:rPr lang="tr-TR" dirty="0"/>
              <a:t>Senden umut kesmem kalbinde merhamet adlı bir çınar vardır</a:t>
            </a:r>
          </a:p>
          <a:p>
            <a:pPr>
              <a:buNone/>
            </a:pPr>
            <a:r>
              <a:rPr lang="tr-TR" dirty="0" smtClean="0"/>
              <a:t>      </a:t>
            </a:r>
          </a:p>
          <a:p>
            <a:pPr>
              <a:buNone/>
            </a:pPr>
            <a:r>
              <a:rPr lang="tr-TR" dirty="0"/>
              <a:t> </a:t>
            </a:r>
            <a:r>
              <a:rPr lang="tr-TR" dirty="0" smtClean="0"/>
              <a:t>     Sevgili </a:t>
            </a:r>
            <a:endParaRPr lang="tr-TR" dirty="0"/>
          </a:p>
          <a:p>
            <a:pPr>
              <a:buNone/>
            </a:pPr>
            <a:r>
              <a:rPr lang="tr-TR" dirty="0" smtClean="0"/>
              <a:t>      </a:t>
            </a:r>
            <a:r>
              <a:rPr lang="tr-TR" dirty="0"/>
              <a:t>En sevgili</a:t>
            </a:r>
          </a:p>
          <a:p>
            <a:pPr>
              <a:buNone/>
            </a:pPr>
            <a:r>
              <a:rPr lang="tr-TR" dirty="0"/>
              <a:t>  </a:t>
            </a:r>
            <a:r>
              <a:rPr lang="tr-TR" dirty="0" smtClean="0"/>
              <a:t>    </a:t>
            </a:r>
            <a:r>
              <a:rPr lang="tr-TR" dirty="0"/>
              <a:t>Ey sevgili</a:t>
            </a:r>
          </a:p>
          <a:p>
            <a:pPr>
              <a:buNone/>
            </a:pPr>
            <a:r>
              <a:rPr lang="tr-TR" dirty="0"/>
              <a:t>   </a:t>
            </a:r>
            <a:r>
              <a:rPr lang="tr-TR" dirty="0" smtClean="0"/>
              <a:t>   Uzatma </a:t>
            </a:r>
            <a:r>
              <a:rPr lang="tr-TR" dirty="0"/>
              <a:t>dünya sürgünümü benim</a:t>
            </a:r>
          </a:p>
          <a:p>
            <a:pPr>
              <a:buNone/>
            </a:pPr>
            <a:r>
              <a:rPr lang="tr-TR" dirty="0"/>
              <a:t> </a:t>
            </a:r>
          </a:p>
          <a:p>
            <a:pPr>
              <a:buNone/>
            </a:pPr>
            <a:r>
              <a:rPr lang="tr-TR" dirty="0"/>
              <a:t> </a:t>
            </a:r>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endParaRPr lang="tr-TR" dirty="0" smtClean="0"/>
          </a:p>
          <a:p>
            <a:r>
              <a:rPr lang="tr-TR" dirty="0" smtClean="0"/>
              <a:t>Bilim</a:t>
            </a:r>
            <a:r>
              <a:rPr lang="tr-TR" dirty="0"/>
              <a:t>, sanat, zanaat, felsefe, ahlak, din v.b. gibi konularda bilgi vermek ve onların temel ilkelerini öğretmek amacıyla yazılan şiirlerdir. Fabl, manzum hikâye, manzum mektup örnekleri de lirik şiir kabul edilir. Örnekler:</a:t>
            </a:r>
          </a:p>
          <a:p>
            <a:endParaRPr lang="tr-TR" dirty="0"/>
          </a:p>
        </p:txBody>
      </p:sp>
      <p:sp>
        <p:nvSpPr>
          <p:cNvPr id="2" name="1 Başlık"/>
          <p:cNvSpPr>
            <a:spLocks noGrp="1"/>
          </p:cNvSpPr>
          <p:nvPr>
            <p:ph type="title"/>
          </p:nvPr>
        </p:nvSpPr>
        <p:spPr/>
        <p:txBody>
          <a:bodyPr>
            <a:normAutofit fontScale="90000"/>
          </a:bodyPr>
          <a:lstStyle/>
          <a:p>
            <a:r>
              <a:rPr lang="tr-TR" b="1" dirty="0"/>
              <a:t>3.DİDAKTİK  ŞİİR</a:t>
            </a:r>
            <a:r>
              <a:rPr lang="tr-TR" dirty="0"/>
              <a:t/>
            </a:r>
            <a:br>
              <a:rPr lang="tr-TR" dirty="0"/>
            </a:br>
            <a:endParaRPr lang="tr-T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611560" y="836712"/>
            <a:ext cx="8229600" cy="4525963"/>
          </a:xfrm>
        </p:spPr>
        <p:txBody>
          <a:bodyPr>
            <a:normAutofit fontScale="47500" lnSpcReduction="20000"/>
          </a:bodyPr>
          <a:lstStyle/>
          <a:p>
            <a:r>
              <a:rPr lang="tr-TR" sz="3300" b="1" dirty="0"/>
              <a:t> EN İYİSİ</a:t>
            </a:r>
            <a:br>
              <a:rPr lang="tr-TR" sz="3300" b="1" dirty="0"/>
            </a:br>
            <a:r>
              <a:rPr lang="tr-TR" sz="3300" b="1" dirty="0"/>
              <a:t/>
            </a:r>
            <a:br>
              <a:rPr lang="tr-TR" sz="3300" b="1" dirty="0"/>
            </a:br>
            <a:r>
              <a:rPr lang="tr-TR" sz="3300" b="1" dirty="0"/>
              <a:t>Dağ tepesinde bir çam olamazsan,</a:t>
            </a:r>
            <a:br>
              <a:rPr lang="tr-TR" sz="3300" b="1" dirty="0"/>
            </a:br>
            <a:r>
              <a:rPr lang="tr-TR" sz="3300" b="1" dirty="0"/>
              <a:t>Vadide bir çalı ol.</a:t>
            </a:r>
            <a:br>
              <a:rPr lang="tr-TR" sz="3300" b="1" dirty="0"/>
            </a:br>
            <a:r>
              <a:rPr lang="tr-TR" sz="3300" b="1" dirty="0"/>
              <a:t>Fakat oradaki en iyi küçük çalı sen olmalısın.</a:t>
            </a:r>
            <a:br>
              <a:rPr lang="tr-TR" sz="3300" b="1" dirty="0"/>
            </a:br>
            <a:r>
              <a:rPr lang="tr-TR" sz="3300" b="1" dirty="0"/>
              <a:t/>
            </a:r>
            <a:br>
              <a:rPr lang="tr-TR" sz="3300" b="1" dirty="0"/>
            </a:br>
            <a:r>
              <a:rPr lang="tr-TR" sz="3300" b="1" dirty="0"/>
              <a:t>Çalı olamazsan bir ot parçası ol, bir yola neşe ver.</a:t>
            </a:r>
            <a:br>
              <a:rPr lang="tr-TR" sz="3300" b="1" dirty="0"/>
            </a:br>
            <a:r>
              <a:rPr lang="tr-TR" sz="3300" b="1" dirty="0"/>
              <a:t>Bir misk çiçeği olmazsan bir saz ol.</a:t>
            </a:r>
            <a:br>
              <a:rPr lang="tr-TR" sz="3300" b="1" dirty="0"/>
            </a:br>
            <a:r>
              <a:rPr lang="tr-TR" sz="3300" b="1" dirty="0"/>
              <a:t>Fakat gölün içindeki en canlı saz sen olmalısın.</a:t>
            </a:r>
            <a:br>
              <a:rPr lang="tr-TR" sz="3300" b="1" dirty="0"/>
            </a:br>
            <a:r>
              <a:rPr lang="tr-TR" sz="3300" b="1" dirty="0"/>
              <a:t/>
            </a:r>
            <a:br>
              <a:rPr lang="tr-TR" sz="3300" b="1" dirty="0"/>
            </a:br>
            <a:r>
              <a:rPr lang="tr-TR" sz="3300" b="1" dirty="0"/>
              <a:t>Hepimiz kaptan olamayız, tayfa olmaya mecburuz.</a:t>
            </a:r>
            <a:br>
              <a:rPr lang="tr-TR" sz="3300" b="1" dirty="0"/>
            </a:br>
            <a:r>
              <a:rPr lang="tr-TR" sz="3300" b="1" dirty="0"/>
              <a:t>Dünyada hepimiz için bir şey var.</a:t>
            </a:r>
            <a:br>
              <a:rPr lang="tr-TR" sz="3300" b="1" dirty="0"/>
            </a:br>
            <a:r>
              <a:rPr lang="tr-TR" sz="3300" b="1" dirty="0"/>
              <a:t>Yapılacak büyük işler, küçük işler var.</a:t>
            </a:r>
            <a:br>
              <a:rPr lang="tr-TR" sz="3300" b="1" dirty="0"/>
            </a:br>
            <a:r>
              <a:rPr lang="tr-TR" sz="3300" b="1" dirty="0"/>
              <a:t>Yapacağınız iş, size en yakın olan iştir.</a:t>
            </a:r>
            <a:br>
              <a:rPr lang="tr-TR" sz="3300" b="1" dirty="0"/>
            </a:br>
            <a:r>
              <a:rPr lang="tr-TR" sz="3300" b="1" dirty="0"/>
              <a:t/>
            </a:r>
            <a:br>
              <a:rPr lang="tr-TR" sz="3300" b="1" dirty="0"/>
            </a:br>
            <a:r>
              <a:rPr lang="tr-TR" sz="3300" b="1" dirty="0"/>
              <a:t>Cadde olamazsan patika ol.</a:t>
            </a:r>
            <a:br>
              <a:rPr lang="tr-TR" sz="3300" b="1" dirty="0"/>
            </a:br>
            <a:r>
              <a:rPr lang="tr-TR" sz="3300" b="1" dirty="0"/>
              <a:t>Güneş olamazsan yıldız ol.</a:t>
            </a:r>
            <a:br>
              <a:rPr lang="tr-TR" sz="3300" b="1" dirty="0"/>
            </a:br>
            <a:r>
              <a:rPr lang="tr-TR" sz="3300" b="1" dirty="0"/>
              <a:t>Kazanmak yahut kaybetmek ölçü ile değildir.</a:t>
            </a:r>
            <a:br>
              <a:rPr lang="tr-TR" sz="3300" b="1" dirty="0"/>
            </a:br>
            <a:r>
              <a:rPr lang="tr-TR" sz="3300" b="1" dirty="0"/>
              <a:t>Sen her neysen, onun en iyisi olmalısın.</a:t>
            </a:r>
            <a:br>
              <a:rPr lang="tr-TR" sz="3300" b="1" dirty="0"/>
            </a:br>
            <a:r>
              <a:rPr lang="tr-TR" sz="3300" b="1" dirty="0"/>
              <a:t/>
            </a:r>
            <a:br>
              <a:rPr lang="tr-TR" sz="3300" b="1" dirty="0"/>
            </a:br>
            <a:r>
              <a:rPr lang="tr-TR" sz="3300" b="1" dirty="0" err="1"/>
              <a:t>Douglas</a:t>
            </a:r>
            <a:r>
              <a:rPr lang="tr-TR" sz="3300" b="1" dirty="0"/>
              <a:t> MALLOCH</a:t>
            </a:r>
          </a:p>
          <a:p>
            <a:endParaRPr lang="tr-T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normAutofit fontScale="92500" lnSpcReduction="10000"/>
          </a:bodyPr>
          <a:lstStyle/>
          <a:p>
            <a:r>
              <a:rPr lang="tr-TR" dirty="0"/>
              <a:t>Sevgiyle</a:t>
            </a:r>
          </a:p>
          <a:p>
            <a:pPr>
              <a:buNone/>
            </a:pPr>
            <a:r>
              <a:rPr lang="tr-TR" dirty="0" smtClean="0"/>
              <a:t>   Sevgiyle </a:t>
            </a:r>
            <a:r>
              <a:rPr lang="tr-TR" dirty="0"/>
              <a:t>yoğrulmamışsa yüreğin</a:t>
            </a:r>
            <a:br>
              <a:rPr lang="tr-TR" dirty="0"/>
            </a:br>
            <a:r>
              <a:rPr lang="tr-TR" dirty="0"/>
              <a:t>Tekkede, manastırda eremezsin</a:t>
            </a:r>
            <a:br>
              <a:rPr lang="tr-TR" dirty="0"/>
            </a:br>
            <a:r>
              <a:rPr lang="tr-TR" dirty="0"/>
              <a:t>Bir kez gerçekten sevdin mi dünyada</a:t>
            </a:r>
            <a:br>
              <a:rPr lang="tr-TR" dirty="0"/>
            </a:br>
            <a:r>
              <a:rPr lang="tr-TR" dirty="0"/>
              <a:t>Cennetin cehennemin üstündesin.</a:t>
            </a:r>
            <a:br>
              <a:rPr lang="tr-TR" dirty="0"/>
            </a:br>
            <a:r>
              <a:rPr lang="tr-TR" dirty="0"/>
              <a:t/>
            </a:r>
            <a:br>
              <a:rPr lang="tr-TR" dirty="0"/>
            </a:br>
            <a:r>
              <a:rPr lang="tr-TR" dirty="0"/>
              <a:t>Bir sır daha var, çözdüklerimizden başka</a:t>
            </a:r>
            <a:br>
              <a:rPr lang="tr-TR" dirty="0"/>
            </a:br>
            <a:r>
              <a:rPr lang="tr-TR" dirty="0"/>
              <a:t>Bir ışık daha var, bu ışıklardan başka</a:t>
            </a:r>
            <a:br>
              <a:rPr lang="tr-TR" dirty="0"/>
            </a:br>
            <a:r>
              <a:rPr lang="tr-TR" dirty="0"/>
              <a:t>Hiçbir yaptığınla yetinme, geç öteye!</a:t>
            </a:r>
            <a:br>
              <a:rPr lang="tr-TR" dirty="0"/>
            </a:br>
            <a:r>
              <a:rPr lang="tr-TR" dirty="0"/>
              <a:t>Bir şey daha var, bütün yaptıklarından başka</a:t>
            </a:r>
            <a:r>
              <a:rPr lang="tr-TR" dirty="0" smtClean="0"/>
              <a:t>.</a:t>
            </a:r>
          </a:p>
          <a:p>
            <a:pPr>
              <a:buNone/>
            </a:pPr>
            <a:r>
              <a:rPr lang="tr-TR" dirty="0"/>
              <a:t> </a:t>
            </a:r>
            <a:r>
              <a:rPr lang="tr-TR" dirty="0" smtClean="0"/>
              <a:t>                                                   </a:t>
            </a:r>
            <a:endParaRPr lang="tr-TR" dirty="0"/>
          </a:p>
          <a:p>
            <a:pPr>
              <a:buNone/>
            </a:pPr>
            <a:r>
              <a:rPr lang="tr-TR" smtClean="0"/>
              <a:t>                                                        </a:t>
            </a:r>
            <a:r>
              <a:rPr lang="tr-TR" dirty="0" smtClean="0"/>
              <a:t>Ömer </a:t>
            </a:r>
            <a:r>
              <a:rPr lang="tr-TR" dirty="0" err="1"/>
              <a:t>Hayyam</a:t>
            </a:r>
            <a:endParaRPr lang="tr-TR" dirty="0"/>
          </a:p>
        </p:txBody>
      </p:sp>
      <p:sp>
        <p:nvSpPr>
          <p:cNvPr id="2" name="1 Başlık"/>
          <p:cNvSpPr>
            <a:spLocks noGrp="1"/>
          </p:cNvSpPr>
          <p:nvPr>
            <p:ph type="title"/>
          </p:nvPr>
        </p:nvSpPr>
        <p:spPr/>
        <p:txBody>
          <a:bodyPr/>
          <a:lstStyle/>
          <a:p>
            <a:endParaRPr lang="tr-T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t>Tabiat güzelliklerini, kır ve çoban hayatını anlatan şiirlerdir. Pastoral şiirin iki çeşidi vardır: 1.İdil (Kır ve tabiat sevgisini anlatır. ) </a:t>
            </a:r>
          </a:p>
          <a:p>
            <a:r>
              <a:rPr lang="tr-TR" dirty="0"/>
              <a:t>2.Eglog (Karşılıklı konuşmalarla çoban hayatını anlatır.)</a:t>
            </a:r>
          </a:p>
          <a:p>
            <a:r>
              <a:rPr lang="tr-TR" dirty="0"/>
              <a:t>Türk edebiyatında doğa ve kır çiçeklerini öven bazı halk şiirleri dışında pastoral şiire eğilim gösteren pek olmamıştır.</a:t>
            </a:r>
          </a:p>
          <a:p>
            <a:endParaRPr lang="tr-TR" dirty="0"/>
          </a:p>
        </p:txBody>
      </p:sp>
      <p:sp>
        <p:nvSpPr>
          <p:cNvPr id="2" name="1 Başlık"/>
          <p:cNvSpPr>
            <a:spLocks noGrp="1"/>
          </p:cNvSpPr>
          <p:nvPr>
            <p:ph type="title"/>
          </p:nvPr>
        </p:nvSpPr>
        <p:spPr/>
        <p:txBody>
          <a:bodyPr>
            <a:normAutofit fontScale="90000"/>
          </a:bodyPr>
          <a:lstStyle/>
          <a:p>
            <a:r>
              <a:rPr lang="tr-TR" b="1" dirty="0"/>
              <a:t>4.PASTORAL   ŞİİR</a:t>
            </a:r>
            <a:r>
              <a:rPr lang="tr-TR" dirty="0"/>
              <a:t/>
            </a:r>
            <a:br>
              <a:rPr lang="tr-TR" dirty="0"/>
            </a:br>
            <a:endParaRPr lang="tr-T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smtClean="0"/>
              <a:t>Daha deniz görmemiş bir çoban çocuğuyum</a:t>
            </a:r>
          </a:p>
          <a:p>
            <a:pPr>
              <a:buNone/>
            </a:pPr>
            <a:r>
              <a:rPr lang="tr-TR" dirty="0" smtClean="0"/>
              <a:t>  Bu dağların eskiden aşinasıdır soyum  Bekçileri gibiyiz </a:t>
            </a:r>
            <a:r>
              <a:rPr lang="tr-TR" dirty="0" err="1" smtClean="0"/>
              <a:t>ebenced</a:t>
            </a:r>
            <a:r>
              <a:rPr lang="tr-TR" dirty="0" smtClean="0"/>
              <a:t> buraların</a:t>
            </a:r>
            <a:br>
              <a:rPr lang="tr-TR" dirty="0" smtClean="0"/>
            </a:br>
            <a:r>
              <a:rPr lang="tr-TR" dirty="0" smtClean="0"/>
              <a:t>Bu tenha derelerin, bu vahşi kayaların</a:t>
            </a:r>
            <a:br>
              <a:rPr lang="tr-TR" dirty="0" smtClean="0"/>
            </a:br>
            <a:r>
              <a:rPr lang="tr-TR" dirty="0" smtClean="0"/>
              <a:t>Görmediği gün yoktur sürü peşinde bizi</a:t>
            </a:r>
            <a:br>
              <a:rPr lang="tr-TR" dirty="0" smtClean="0"/>
            </a:br>
            <a:r>
              <a:rPr lang="tr-TR" dirty="0" smtClean="0"/>
              <a:t>Her gün aynı pınardan doldurur destimizi</a:t>
            </a:r>
            <a:br>
              <a:rPr lang="tr-TR" dirty="0" smtClean="0"/>
            </a:br>
            <a:r>
              <a:rPr lang="tr-TR" dirty="0" smtClean="0"/>
              <a:t>Kırlara açılırız çıngıraklarımızla.</a:t>
            </a:r>
            <a:br>
              <a:rPr lang="tr-TR" dirty="0" smtClean="0"/>
            </a:br>
            <a:endParaRPr lang="tr-TR" dirty="0"/>
          </a:p>
        </p:txBody>
      </p:sp>
      <p:sp>
        <p:nvSpPr>
          <p:cNvPr id="2" name="1 Başlık"/>
          <p:cNvSpPr>
            <a:spLocks noGrp="1"/>
          </p:cNvSpPr>
          <p:nvPr>
            <p:ph type="title"/>
          </p:nvPr>
        </p:nvSpPr>
        <p:spPr/>
        <p:txBody>
          <a:bodyPr/>
          <a:lstStyle/>
          <a:p>
            <a:r>
              <a:rPr lang="tr-TR" dirty="0" smtClean="0"/>
              <a:t> BİNGÖL ÇOBANLARI</a:t>
            </a:r>
            <a:endParaRPr lang="tr-T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İçerik Yer Tutucusu"/>
          <p:cNvSpPr>
            <a:spLocks noGrp="1"/>
          </p:cNvSpPr>
          <p:nvPr>
            <p:ph idx="1"/>
          </p:nvPr>
        </p:nvSpPr>
        <p:spPr/>
        <p:txBody>
          <a:bodyPr>
            <a:normAutofit fontScale="77500" lnSpcReduction="20000"/>
          </a:bodyPr>
          <a:lstStyle/>
          <a:p>
            <a:r>
              <a:rPr lang="tr-TR" dirty="0" smtClean="0"/>
              <a:t>Okuma yok, yazma yok, bilmeyiz eski yeni</a:t>
            </a:r>
            <a:br>
              <a:rPr lang="tr-TR" dirty="0" smtClean="0"/>
            </a:br>
            <a:r>
              <a:rPr lang="tr-TR" dirty="0" smtClean="0"/>
              <a:t>Kuzular bize söyler yılların geçtiğini</a:t>
            </a:r>
            <a:br>
              <a:rPr lang="tr-TR" dirty="0" smtClean="0"/>
            </a:br>
            <a:r>
              <a:rPr lang="tr-TR" dirty="0" smtClean="0"/>
              <a:t>Arzu, başlarımızdan yıldızlar gibi yüksek</a:t>
            </a:r>
            <a:br>
              <a:rPr lang="tr-TR" dirty="0" smtClean="0"/>
            </a:br>
            <a:r>
              <a:rPr lang="tr-TR" dirty="0" smtClean="0"/>
              <a:t>Önümüzde bir sürü, yanımızda bir köpek</a:t>
            </a:r>
            <a:br>
              <a:rPr lang="tr-TR" dirty="0" smtClean="0"/>
            </a:br>
            <a:r>
              <a:rPr lang="tr-TR" dirty="0" smtClean="0"/>
              <a:t>Dolaştırıp dururuz aynı daüssılayı</a:t>
            </a:r>
            <a:br>
              <a:rPr lang="tr-TR" dirty="0" smtClean="0"/>
            </a:br>
            <a:r>
              <a:rPr lang="tr-TR" dirty="0" smtClean="0"/>
              <a:t>Her adım uyandırır acı bir hatırayı! </a:t>
            </a:r>
          </a:p>
          <a:p>
            <a:r>
              <a:rPr lang="tr-TR" dirty="0" smtClean="0"/>
              <a:t>Anam bir yaz gecesi doğurmuş beni </a:t>
            </a:r>
            <a:r>
              <a:rPr lang="tr-TR" dirty="0" err="1" smtClean="0"/>
              <a:t>burda</a:t>
            </a:r>
            <a:r>
              <a:rPr lang="tr-TR" dirty="0" smtClean="0"/>
              <a:t/>
            </a:r>
            <a:br>
              <a:rPr lang="tr-TR" dirty="0" smtClean="0"/>
            </a:br>
            <a:r>
              <a:rPr lang="tr-TR" dirty="0" smtClean="0"/>
              <a:t>Bu çamlıkta söylemiş son sözlerini babam</a:t>
            </a:r>
            <a:br>
              <a:rPr lang="tr-TR" dirty="0" smtClean="0"/>
            </a:br>
            <a:r>
              <a:rPr lang="tr-TR" dirty="0" smtClean="0"/>
              <a:t>Şu karşıki bayırda verdim kuzuyu kurda</a:t>
            </a:r>
            <a:br>
              <a:rPr lang="tr-TR" dirty="0" smtClean="0"/>
            </a:br>
            <a:r>
              <a:rPr lang="tr-TR" dirty="0" smtClean="0"/>
              <a:t>"Suna"mın başka köye gelin gittiği akşam.</a:t>
            </a:r>
            <a:br>
              <a:rPr lang="tr-TR" dirty="0" smtClean="0"/>
            </a:br>
            <a:r>
              <a:rPr lang="tr-TR" dirty="0" smtClean="0"/>
              <a:t/>
            </a:r>
            <a:br>
              <a:rPr lang="tr-TR" dirty="0" smtClean="0"/>
            </a:br>
            <a:r>
              <a:rPr lang="tr-TR" dirty="0" smtClean="0"/>
              <a:t>Gün biter, sürü yatar ve sararsan bir ayla</a:t>
            </a:r>
            <a:br>
              <a:rPr lang="tr-TR" dirty="0" smtClean="0"/>
            </a:br>
            <a:r>
              <a:rPr lang="tr-TR" dirty="0" smtClean="0"/>
              <a:t>Çoban hicranlarını basar bağrına yayla</a:t>
            </a:r>
            <a:br>
              <a:rPr lang="tr-TR" dirty="0" smtClean="0"/>
            </a:br>
            <a:r>
              <a:rPr lang="tr-TR" dirty="0" smtClean="0"/>
              <a:t>Kuru bir yaprak gibi kalbini eline al</a:t>
            </a:r>
            <a:br>
              <a:rPr lang="tr-TR" dirty="0" smtClean="0"/>
            </a:br>
            <a:r>
              <a:rPr lang="tr-TR" dirty="0" smtClean="0"/>
              <a:t>Diye hıçkırır kaval.</a:t>
            </a:r>
            <a:br>
              <a:rPr lang="tr-TR" dirty="0" smtClean="0"/>
            </a:br>
            <a:r>
              <a:rPr lang="tr-TR" dirty="0" smtClean="0"/>
              <a:t/>
            </a:r>
            <a:br>
              <a:rPr lang="tr-TR" dirty="0" smtClean="0"/>
            </a:br>
            <a:endParaRPr lang="tr-TR" dirty="0"/>
          </a:p>
        </p:txBody>
      </p:sp>
      <p:sp>
        <p:nvSpPr>
          <p:cNvPr id="3" name="2 Başlık"/>
          <p:cNvSpPr>
            <a:spLocks noGrp="1"/>
          </p:cNvSpPr>
          <p:nvPr>
            <p:ph type="title"/>
          </p:nvPr>
        </p:nvSpPr>
        <p:spPr/>
        <p:txBody>
          <a:bodyPr/>
          <a:lstStyle/>
          <a:p>
            <a:endParaRPr lang="tr-T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İçerik Yer Tutucusu"/>
          <p:cNvSpPr>
            <a:spLocks noGrp="1"/>
          </p:cNvSpPr>
          <p:nvPr>
            <p:ph idx="1"/>
          </p:nvPr>
        </p:nvSpPr>
        <p:spPr/>
        <p:txBody>
          <a:bodyPr>
            <a:normAutofit fontScale="77500" lnSpcReduction="20000"/>
          </a:bodyPr>
          <a:lstStyle/>
          <a:p>
            <a:r>
              <a:rPr lang="tr-TR" dirty="0" smtClean="0"/>
              <a:t>Bir çoban parçasısın, olmasan bile koyun</a:t>
            </a:r>
            <a:br>
              <a:rPr lang="tr-TR" dirty="0" smtClean="0"/>
            </a:br>
            <a:r>
              <a:rPr lang="tr-TR" dirty="0" smtClean="0"/>
              <a:t>Daima eğeceksin başkalarına boyun</a:t>
            </a:r>
            <a:br>
              <a:rPr lang="tr-TR" dirty="0" smtClean="0"/>
            </a:br>
            <a:r>
              <a:rPr lang="tr-TR" dirty="0" smtClean="0"/>
              <a:t>Hülyana karışmasın ne şehir, ne de çarşı</a:t>
            </a:r>
            <a:br>
              <a:rPr lang="tr-TR" dirty="0" smtClean="0"/>
            </a:br>
            <a:r>
              <a:rPr lang="tr-TR" dirty="0" smtClean="0"/>
              <a:t>Yamaçlarda her aksam batan güneşe karşı</a:t>
            </a:r>
            <a:br>
              <a:rPr lang="tr-TR" dirty="0" smtClean="0"/>
            </a:br>
            <a:r>
              <a:rPr lang="tr-TR" dirty="0" smtClean="0"/>
              <a:t>Uçan kuşları düşün, geçen kervanları an</a:t>
            </a:r>
            <a:br>
              <a:rPr lang="tr-TR" dirty="0" smtClean="0"/>
            </a:br>
            <a:r>
              <a:rPr lang="tr-TR" dirty="0" smtClean="0"/>
              <a:t>Mademki kara bahtın adını koydu çoban!</a:t>
            </a:r>
            <a:br>
              <a:rPr lang="tr-TR" dirty="0" smtClean="0"/>
            </a:br>
            <a:r>
              <a:rPr lang="tr-TR" dirty="0" smtClean="0"/>
              <a:t/>
            </a:r>
            <a:br>
              <a:rPr lang="tr-TR" dirty="0" smtClean="0"/>
            </a:br>
            <a:r>
              <a:rPr lang="tr-TR" dirty="0" smtClean="0"/>
              <a:t>Nasıl yaşadığından, ne içip yediğinden</a:t>
            </a:r>
            <a:br>
              <a:rPr lang="tr-TR" dirty="0" smtClean="0"/>
            </a:br>
            <a:r>
              <a:rPr lang="tr-TR" dirty="0" smtClean="0"/>
              <a:t>Çıngırak seslerinin dağlara dediğinden</a:t>
            </a:r>
            <a:br>
              <a:rPr lang="tr-TR" dirty="0" smtClean="0"/>
            </a:br>
            <a:r>
              <a:rPr lang="tr-TR" dirty="0" smtClean="0"/>
              <a:t>Anlattı uzun uzun.</a:t>
            </a:r>
            <a:br>
              <a:rPr lang="tr-TR" dirty="0" smtClean="0"/>
            </a:br>
            <a:r>
              <a:rPr lang="tr-TR" dirty="0" smtClean="0"/>
              <a:t/>
            </a:r>
            <a:br>
              <a:rPr lang="tr-TR" dirty="0" smtClean="0"/>
            </a:br>
            <a:r>
              <a:rPr lang="tr-TR" dirty="0" smtClean="0"/>
              <a:t>Şehrin uğultusundan usanmış ruhumuzun</a:t>
            </a:r>
            <a:br>
              <a:rPr lang="tr-TR" dirty="0" smtClean="0"/>
            </a:br>
            <a:r>
              <a:rPr lang="tr-TR" dirty="0" smtClean="0"/>
              <a:t>Nadir duyabildiği taze bir heyecanla</a:t>
            </a:r>
            <a:br>
              <a:rPr lang="tr-TR" dirty="0" smtClean="0"/>
            </a:br>
            <a:r>
              <a:rPr lang="tr-TR" dirty="0" smtClean="0"/>
              <a:t>Karıştım o gün bugün bu zavallı çobanla</a:t>
            </a:r>
            <a:br>
              <a:rPr lang="tr-TR" dirty="0" smtClean="0"/>
            </a:br>
            <a:r>
              <a:rPr lang="tr-TR" dirty="0" smtClean="0"/>
              <a:t>Bingöl yaylalarının mavi dumanlarına</a:t>
            </a:r>
          </a:p>
          <a:p>
            <a:pPr>
              <a:buNone/>
            </a:pPr>
            <a:r>
              <a:rPr lang="tr-TR" dirty="0" smtClean="0"/>
              <a:t>   Gönlümü yayla yaptım Bingöl çobanlarına                 (</a:t>
            </a:r>
            <a:r>
              <a:rPr lang="tr-TR" dirty="0" err="1" smtClean="0"/>
              <a:t>Kemalettin</a:t>
            </a:r>
            <a:r>
              <a:rPr lang="tr-TR" dirty="0" smtClean="0"/>
              <a:t> Kamu)</a:t>
            </a:r>
            <a:endParaRPr lang="tr-TR" dirty="0"/>
          </a:p>
        </p:txBody>
      </p:sp>
      <p:sp>
        <p:nvSpPr>
          <p:cNvPr id="3" name="2 Başlık"/>
          <p:cNvSpPr>
            <a:spLocks noGrp="1"/>
          </p:cNvSpPr>
          <p:nvPr>
            <p:ph type="title"/>
          </p:nvPr>
        </p:nvSpPr>
        <p:spPr/>
        <p:txBody>
          <a:bodyPr/>
          <a:lstStyle/>
          <a:p>
            <a:endParaRPr lang="tr-T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İçerik Yer Tutucusu"/>
          <p:cNvSpPr>
            <a:spLocks noGrp="1"/>
          </p:cNvSpPr>
          <p:nvPr>
            <p:ph idx="1"/>
          </p:nvPr>
        </p:nvSpPr>
        <p:spPr/>
        <p:txBody>
          <a:bodyPr>
            <a:normAutofit lnSpcReduction="10000"/>
          </a:bodyPr>
          <a:lstStyle/>
          <a:p>
            <a:r>
              <a:rPr lang="tr-TR" dirty="0" smtClean="0"/>
              <a:t>Acıklı ve korkunç bir konuyu anlatan, opera için yazılan manzum dramlardaki şiirdir.</a:t>
            </a:r>
          </a:p>
          <a:p>
            <a:r>
              <a:rPr lang="tr-TR" dirty="0" smtClean="0"/>
              <a:t>Örnek:</a:t>
            </a:r>
          </a:p>
          <a:p>
            <a:r>
              <a:rPr lang="tr-TR" dirty="0" smtClean="0"/>
              <a:t>ELEKTRA:          </a:t>
            </a:r>
          </a:p>
          <a:p>
            <a:r>
              <a:rPr lang="tr-TR" dirty="0" smtClean="0"/>
              <a:t>Ey temiz ışık                                                                                                                                                                                             </a:t>
            </a:r>
          </a:p>
          <a:p>
            <a:pPr marL="109728" indent="0">
              <a:buNone/>
            </a:pPr>
            <a:r>
              <a:rPr lang="tr-TR" dirty="0"/>
              <a:t> </a:t>
            </a:r>
            <a:r>
              <a:rPr lang="tr-TR" dirty="0" smtClean="0"/>
              <a:t> ve dünyayı saran hava!</a:t>
            </a:r>
          </a:p>
          <a:p>
            <a:pPr marL="109728" indent="0">
              <a:buNone/>
            </a:pPr>
            <a:r>
              <a:rPr lang="tr-TR" dirty="0"/>
              <a:t> </a:t>
            </a:r>
            <a:r>
              <a:rPr lang="tr-TR" dirty="0" smtClean="0"/>
              <a:t> Ne çok iniltilerimi işittin</a:t>
            </a:r>
          </a:p>
          <a:p>
            <a:pPr marL="109728" indent="0">
              <a:buNone/>
            </a:pPr>
            <a:r>
              <a:rPr lang="tr-TR" dirty="0"/>
              <a:t> </a:t>
            </a:r>
            <a:r>
              <a:rPr lang="tr-TR" dirty="0" smtClean="0"/>
              <a:t> ne çok nalelerle</a:t>
            </a:r>
          </a:p>
          <a:p>
            <a:pPr marL="109728" indent="0">
              <a:buNone/>
            </a:pPr>
            <a:r>
              <a:rPr lang="tr-TR" dirty="0" smtClean="0"/>
              <a:t>  kanlı bağrıma vurduğun   </a:t>
            </a:r>
          </a:p>
          <a:p>
            <a:pPr marL="109728" indent="0">
              <a:buNone/>
            </a:pPr>
            <a:r>
              <a:rPr lang="tr-TR" dirty="0"/>
              <a:t> </a:t>
            </a:r>
            <a:r>
              <a:rPr lang="tr-TR" dirty="0" smtClean="0"/>
              <a:t> yumruklara şahit oldun,...</a:t>
            </a:r>
          </a:p>
          <a:p>
            <a:endParaRPr lang="tr-TR" dirty="0"/>
          </a:p>
        </p:txBody>
      </p:sp>
      <p:sp>
        <p:nvSpPr>
          <p:cNvPr id="3" name="2 Başlık"/>
          <p:cNvSpPr>
            <a:spLocks noGrp="1"/>
          </p:cNvSpPr>
          <p:nvPr>
            <p:ph type="title"/>
          </p:nvPr>
        </p:nvSpPr>
        <p:spPr/>
        <p:txBody>
          <a:bodyPr>
            <a:normAutofit fontScale="90000"/>
          </a:bodyPr>
          <a:lstStyle/>
          <a:p>
            <a:r>
              <a:rPr lang="tr-TR" dirty="0" smtClean="0"/>
              <a:t/>
            </a:r>
            <a:br>
              <a:rPr lang="tr-TR" dirty="0" smtClean="0"/>
            </a:br>
            <a:r>
              <a:rPr lang="tr-TR" dirty="0" smtClean="0"/>
              <a:t>5.DRAMATİK  ŞİİR</a:t>
            </a:r>
            <a:br>
              <a:rPr lang="tr-TR" dirty="0" smtClean="0"/>
            </a:br>
            <a:endParaRPr lang="tr-T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İçerik Yer Tutucusu"/>
          <p:cNvSpPr>
            <a:spLocks noGrp="1"/>
          </p:cNvSpPr>
          <p:nvPr>
            <p:ph idx="1"/>
          </p:nvPr>
        </p:nvSpPr>
        <p:spPr/>
        <p:txBody>
          <a:bodyPr/>
          <a:lstStyle/>
          <a:p>
            <a:endParaRPr lang="tr-TR" dirty="0" smtClean="0"/>
          </a:p>
          <a:p>
            <a:endParaRPr lang="tr-TR" dirty="0" smtClean="0"/>
          </a:p>
          <a:p>
            <a:endParaRPr lang="tr-TR" dirty="0" smtClean="0"/>
          </a:p>
          <a:p>
            <a:r>
              <a:rPr lang="tr-TR" dirty="0" smtClean="0"/>
              <a:t>Toplumu ya da kişileri eleştiren, alaya alan şiirlerdir.</a:t>
            </a:r>
          </a:p>
          <a:p>
            <a:endParaRPr lang="tr-TR" dirty="0"/>
          </a:p>
        </p:txBody>
      </p:sp>
      <p:sp>
        <p:nvSpPr>
          <p:cNvPr id="3" name="2 Başlık"/>
          <p:cNvSpPr>
            <a:spLocks noGrp="1"/>
          </p:cNvSpPr>
          <p:nvPr>
            <p:ph type="title"/>
          </p:nvPr>
        </p:nvSpPr>
        <p:spPr/>
        <p:txBody>
          <a:bodyPr>
            <a:normAutofit fontScale="90000"/>
          </a:bodyPr>
          <a:lstStyle/>
          <a:p>
            <a:r>
              <a:rPr lang="tr-TR" dirty="0" smtClean="0"/>
              <a:t/>
            </a:r>
            <a:br>
              <a:rPr lang="tr-TR" dirty="0" smtClean="0"/>
            </a:br>
            <a:r>
              <a:rPr lang="tr-TR" dirty="0" smtClean="0"/>
              <a:t>6.SATİRİK  ŞİİR</a:t>
            </a:r>
            <a:br>
              <a:rPr lang="tr-TR" dirty="0" smtClean="0"/>
            </a:br>
            <a:endParaRPr lang="tr-T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İçerik Yer Tutucusu"/>
          <p:cNvSpPr>
            <a:spLocks noGrp="1"/>
          </p:cNvSpPr>
          <p:nvPr>
            <p:ph idx="1"/>
          </p:nvPr>
        </p:nvSpPr>
        <p:spPr/>
        <p:txBody>
          <a:bodyPr>
            <a:normAutofit fontScale="77500" lnSpcReduction="20000"/>
          </a:bodyPr>
          <a:lstStyle/>
          <a:p>
            <a:r>
              <a:rPr lang="tr-TR" dirty="0" smtClean="0"/>
              <a:t>Ormanda büyüyen adam azgını</a:t>
            </a:r>
            <a:br>
              <a:rPr lang="tr-TR" dirty="0" smtClean="0"/>
            </a:br>
            <a:r>
              <a:rPr lang="tr-TR" dirty="0" smtClean="0"/>
              <a:t>Çarşıda pazarda insan beğenmez</a:t>
            </a:r>
            <a:br>
              <a:rPr lang="tr-TR" dirty="0" smtClean="0"/>
            </a:br>
            <a:r>
              <a:rPr lang="tr-TR" dirty="0" smtClean="0"/>
              <a:t>Medrese kaçkını softa bozgunu</a:t>
            </a:r>
            <a:br>
              <a:rPr lang="tr-TR" dirty="0" smtClean="0"/>
            </a:br>
            <a:r>
              <a:rPr lang="tr-TR" dirty="0" smtClean="0"/>
              <a:t>Selam vermek için insan beğenmez.</a:t>
            </a:r>
            <a:br>
              <a:rPr lang="tr-TR" dirty="0" smtClean="0"/>
            </a:br>
            <a:r>
              <a:rPr lang="tr-TR" dirty="0" smtClean="0"/>
              <a:t>.............</a:t>
            </a:r>
            <a:br>
              <a:rPr lang="tr-TR" dirty="0" smtClean="0"/>
            </a:br>
            <a:r>
              <a:rPr lang="tr-TR" dirty="0" smtClean="0"/>
              <a:t/>
            </a:r>
            <a:br>
              <a:rPr lang="tr-TR" dirty="0" smtClean="0"/>
            </a:br>
            <a:r>
              <a:rPr lang="tr-TR" dirty="0" smtClean="0"/>
              <a:t>Elin kapısında kul </a:t>
            </a:r>
            <a:r>
              <a:rPr lang="tr-TR" dirty="0" err="1" smtClean="0"/>
              <a:t>kardaş</a:t>
            </a:r>
            <a:r>
              <a:rPr lang="tr-TR" dirty="0" smtClean="0"/>
              <a:t> olan </a:t>
            </a:r>
            <a:br>
              <a:rPr lang="tr-TR" dirty="0" smtClean="0"/>
            </a:br>
            <a:r>
              <a:rPr lang="tr-TR" dirty="0" smtClean="0"/>
              <a:t>Burnu sümüklü hem gözü yaş olan </a:t>
            </a:r>
            <a:br>
              <a:rPr lang="tr-TR" dirty="0" smtClean="0"/>
            </a:br>
            <a:r>
              <a:rPr lang="tr-TR" dirty="0" smtClean="0"/>
              <a:t>Bayramdan bayrama bir tıraş olan </a:t>
            </a:r>
            <a:br>
              <a:rPr lang="tr-TR" dirty="0" smtClean="0"/>
            </a:br>
            <a:r>
              <a:rPr lang="tr-TR" dirty="0" smtClean="0"/>
              <a:t>Berbere gelir de dükkan beğenmez.</a:t>
            </a:r>
            <a:br>
              <a:rPr lang="tr-TR" dirty="0" smtClean="0"/>
            </a:br>
            <a:r>
              <a:rPr lang="tr-TR" dirty="0" smtClean="0"/>
              <a:t>..............</a:t>
            </a:r>
            <a:br>
              <a:rPr lang="tr-TR" dirty="0" smtClean="0"/>
            </a:br>
            <a:endParaRPr lang="tr-TR" dirty="0" smtClean="0"/>
          </a:p>
          <a:p>
            <a:r>
              <a:rPr lang="tr-TR" dirty="0" smtClean="0"/>
              <a:t>Kazak Abdal söyler bu türlü sözü</a:t>
            </a:r>
            <a:br>
              <a:rPr lang="tr-TR" dirty="0" smtClean="0"/>
            </a:br>
            <a:r>
              <a:rPr lang="tr-TR" dirty="0" smtClean="0"/>
              <a:t>Yoğurt ayran ile hallolmuş özü</a:t>
            </a:r>
            <a:br>
              <a:rPr lang="tr-TR" dirty="0" smtClean="0"/>
            </a:br>
            <a:r>
              <a:rPr lang="tr-TR" dirty="0" smtClean="0"/>
              <a:t>Köyden şehre gelen bir köylü kızı</a:t>
            </a:r>
            <a:br>
              <a:rPr lang="tr-TR" dirty="0" smtClean="0"/>
            </a:br>
            <a:r>
              <a:rPr lang="tr-TR" dirty="0" smtClean="0"/>
              <a:t>İnci yakut ister mercan beğenmez. (</a:t>
            </a:r>
            <a:r>
              <a:rPr lang="tr-TR" b="1" dirty="0" smtClean="0"/>
              <a:t>Kazak Abdal)</a:t>
            </a:r>
            <a:endParaRPr lang="tr-TR" dirty="0"/>
          </a:p>
        </p:txBody>
      </p:sp>
      <p:sp>
        <p:nvSpPr>
          <p:cNvPr id="3" name="2 Başlık"/>
          <p:cNvSpPr>
            <a:spLocks noGrp="1"/>
          </p:cNvSpPr>
          <p:nvPr>
            <p:ph type="title"/>
          </p:nvPr>
        </p:nvSpPr>
        <p:spPr/>
        <p:txBody>
          <a:bodyPr>
            <a:normAutofit fontScale="90000"/>
          </a:bodyPr>
          <a:lstStyle/>
          <a:p>
            <a:r>
              <a:rPr lang="tr-TR" dirty="0" smtClean="0"/>
              <a:t/>
            </a:r>
            <a:br>
              <a:rPr lang="tr-TR" dirty="0" smtClean="0"/>
            </a:br>
            <a:r>
              <a:rPr lang="tr-TR" dirty="0" smtClean="0"/>
              <a:t>ORMANDA BÜYÜYEN ADAM AZGINI</a:t>
            </a:r>
            <a:br>
              <a:rPr lang="tr-TR" dirty="0" smtClean="0"/>
            </a:br>
            <a:endParaRPr lang="tr-T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a:ln>
            <a:solidFill>
              <a:schemeClr val="accent1"/>
            </a:solidFill>
          </a:ln>
        </p:spPr>
        <p:txBody>
          <a:bodyPr/>
          <a:lstStyle/>
          <a:p>
            <a:r>
              <a:rPr lang="tr-TR" dirty="0" err="1" smtClean="0"/>
              <a:t>Akroştiş</a:t>
            </a:r>
            <a:endParaRPr lang="tr-TR" dirty="0" smtClean="0"/>
          </a:p>
          <a:p>
            <a:r>
              <a:rPr lang="tr-TR" dirty="0" smtClean="0"/>
              <a:t>Nazire</a:t>
            </a:r>
          </a:p>
          <a:p>
            <a:r>
              <a:rPr lang="tr-TR" dirty="0" smtClean="0"/>
              <a:t>Hiciv</a:t>
            </a:r>
          </a:p>
          <a:p>
            <a:r>
              <a:rPr lang="tr-TR" dirty="0" smtClean="0"/>
              <a:t>Mani</a:t>
            </a:r>
          </a:p>
          <a:p>
            <a:r>
              <a:rPr lang="tr-TR" dirty="0" err="1" smtClean="0"/>
              <a:t>Koçaklama</a:t>
            </a:r>
            <a:endParaRPr lang="tr-TR" dirty="0" smtClean="0"/>
          </a:p>
          <a:p>
            <a:r>
              <a:rPr lang="tr-TR" dirty="0" smtClean="0"/>
              <a:t>Güzelleme</a:t>
            </a:r>
          </a:p>
          <a:p>
            <a:r>
              <a:rPr lang="tr-TR" dirty="0" err="1" smtClean="0"/>
              <a:t>Poetika</a:t>
            </a:r>
            <a:endParaRPr lang="tr-TR" dirty="0" smtClean="0"/>
          </a:p>
          <a:p>
            <a:endParaRPr lang="tr-TR" dirty="0"/>
          </a:p>
        </p:txBody>
      </p:sp>
      <p:sp>
        <p:nvSpPr>
          <p:cNvPr id="3" name="Unvan 2"/>
          <p:cNvSpPr>
            <a:spLocks noGrp="1"/>
          </p:cNvSpPr>
          <p:nvPr>
            <p:ph type="title"/>
          </p:nvPr>
        </p:nvSpPr>
        <p:spPr/>
        <p:txBody>
          <a:bodyPr/>
          <a:lstStyle/>
          <a:p>
            <a:r>
              <a:rPr lang="tr-TR" dirty="0" smtClean="0"/>
              <a:t>Şiirle İlgili Terimler</a:t>
            </a:r>
            <a:endParaRPr lang="tr-TR" dirty="0"/>
          </a:p>
        </p:txBody>
      </p:sp>
    </p:spTree>
    <p:extLst>
      <p:ext uri="{BB962C8B-B14F-4D97-AF65-F5344CB8AC3E}">
        <p14:creationId xmlns:p14="http://schemas.microsoft.com/office/powerpoint/2010/main" val="17329817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b="1" dirty="0" err="1" smtClean="0"/>
              <a:t>Akroştiş</a:t>
            </a:r>
            <a:r>
              <a:rPr lang="tr-TR" b="1" dirty="0" smtClean="0"/>
              <a:t>:</a:t>
            </a:r>
            <a:r>
              <a:rPr lang="tr-TR" dirty="0" smtClean="0"/>
              <a:t> Bir  şiirin, mısralarının ilk harflerinin birleşmesi sonucu ortaya anlamlı bir kelime veya özel isim çıkacak şekilde tertip edilmesi.</a:t>
            </a:r>
          </a:p>
          <a:p>
            <a:r>
              <a:rPr lang="tr-TR" dirty="0" smtClean="0"/>
              <a:t>Cahit Sıtkı </a:t>
            </a:r>
            <a:r>
              <a:rPr lang="tr-TR" dirty="0" err="1" smtClean="0"/>
              <a:t>Tancı’nın</a:t>
            </a:r>
            <a:r>
              <a:rPr lang="tr-TR" dirty="0" smtClean="0"/>
              <a:t> </a:t>
            </a:r>
            <a:r>
              <a:rPr lang="tr-TR" dirty="0" err="1" smtClean="0"/>
              <a:t>Akroştiş</a:t>
            </a:r>
            <a:r>
              <a:rPr lang="tr-TR" dirty="0" smtClean="0"/>
              <a:t> şiiri buna örnektir. (Vedia)</a:t>
            </a:r>
          </a:p>
          <a:p>
            <a:r>
              <a:rPr lang="tr-TR" b="1" dirty="0" smtClean="0"/>
              <a:t>Nazire: </a:t>
            </a:r>
            <a:r>
              <a:rPr lang="tr-TR" dirty="0" smtClean="0"/>
              <a:t>Bir şiire biçimi aynı olmak şartıyla benzer başka bir şiir yazmaktır. Divan edebiyatında beğenilen bir şiire duyulan saygının ifadesidir.</a:t>
            </a:r>
          </a:p>
          <a:p>
            <a:endParaRPr lang="tr-TR" dirty="0"/>
          </a:p>
        </p:txBody>
      </p:sp>
      <p:sp>
        <p:nvSpPr>
          <p:cNvPr id="3" name="Unvan 2"/>
          <p:cNvSpPr>
            <a:spLocks noGrp="1"/>
          </p:cNvSpPr>
          <p:nvPr>
            <p:ph type="title"/>
          </p:nvPr>
        </p:nvSpPr>
        <p:spPr/>
        <p:txBody>
          <a:bodyPr/>
          <a:lstStyle/>
          <a:p>
            <a:endParaRPr lang="tr-TR" dirty="0"/>
          </a:p>
        </p:txBody>
      </p:sp>
    </p:spTree>
    <p:extLst>
      <p:ext uri="{BB962C8B-B14F-4D97-AF65-F5344CB8AC3E}">
        <p14:creationId xmlns:p14="http://schemas.microsoft.com/office/powerpoint/2010/main" val="34173559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b="1" dirty="0" smtClean="0"/>
              <a:t>Hiciv</a:t>
            </a:r>
            <a:r>
              <a:rPr lang="tr-TR" dirty="0" smtClean="0"/>
              <a:t>: Yergi, </a:t>
            </a:r>
            <a:r>
              <a:rPr lang="tr-TR" dirty="0"/>
              <a:t>k</a:t>
            </a:r>
            <a:r>
              <a:rPr lang="tr-TR" dirty="0" smtClean="0"/>
              <a:t>ara mizah, </a:t>
            </a:r>
            <a:r>
              <a:rPr lang="tr-TR" dirty="0" err="1" smtClean="0"/>
              <a:t>taşalama</a:t>
            </a:r>
            <a:r>
              <a:rPr lang="tr-TR" dirty="0" smtClean="0"/>
              <a:t>. Çokluk, bir kişiyi, kurum ya da topluluğu/toplumu alay ederek eleştirmek, yermek, aşağılamak ve gülünç duruma düşürmek </a:t>
            </a:r>
            <a:r>
              <a:rPr lang="tr-TR" dirty="0" err="1" smtClean="0"/>
              <a:t>kasdıyla</a:t>
            </a:r>
            <a:r>
              <a:rPr lang="tr-TR" dirty="0" smtClean="0"/>
              <a:t> yazılan genellikle manzum metinlere verilen isim. Neyzen Tevfik ve </a:t>
            </a:r>
            <a:r>
              <a:rPr lang="tr-TR" dirty="0" err="1" smtClean="0"/>
              <a:t>Nef’i’nin</a:t>
            </a:r>
            <a:r>
              <a:rPr lang="tr-TR" dirty="0" smtClean="0"/>
              <a:t> hiciv şiirleri vardır.</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9901263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indent="571500" algn="just"/>
            <a:r>
              <a:rPr lang="tr-TR" dirty="0">
                <a:solidFill>
                  <a:srgbClr val="000000"/>
                </a:solidFill>
                <a:latin typeface="Times New Roman" panose="02020603050405020304" pitchFamily="18" charset="0"/>
              </a:rPr>
              <a:t>Sözlü/anonim edebiyat ürünlerindendir.</a:t>
            </a:r>
          </a:p>
          <a:p>
            <a:pPr indent="571500" algn="just"/>
            <a:r>
              <a:rPr lang="tr-TR" dirty="0">
                <a:solidFill>
                  <a:srgbClr val="000000"/>
                </a:solidFill>
                <a:latin typeface="Times New Roman" panose="02020603050405020304" pitchFamily="18" charset="0"/>
              </a:rPr>
              <a:t>Dört mısradan meydan gelir.</a:t>
            </a:r>
          </a:p>
          <a:p>
            <a:pPr indent="571500" algn="just"/>
            <a:r>
              <a:rPr lang="tr-TR" dirty="0">
                <a:solidFill>
                  <a:srgbClr val="000000"/>
                </a:solidFill>
                <a:latin typeface="Times New Roman" panose="02020603050405020304" pitchFamily="18" charset="0"/>
              </a:rPr>
              <a:t>Yedili hece ölçüsüyle söylenir.</a:t>
            </a:r>
          </a:p>
          <a:p>
            <a:pPr indent="571500" algn="just"/>
            <a:r>
              <a:rPr lang="tr-TR" dirty="0">
                <a:solidFill>
                  <a:srgbClr val="000000"/>
                </a:solidFill>
                <a:latin typeface="Times New Roman" panose="02020603050405020304" pitchFamily="18" charset="0"/>
              </a:rPr>
              <a:t>Sevgi, tabiat, övgü, yergi, evlât sevgisi, ayrılık, hasret ve aşk konularını işler.</a:t>
            </a:r>
          </a:p>
          <a:p>
            <a:pPr indent="571500" algn="just"/>
            <a:r>
              <a:rPr lang="tr-TR" dirty="0">
                <a:solidFill>
                  <a:srgbClr val="000000"/>
                </a:solidFill>
                <a:latin typeface="Times New Roman" panose="02020603050405020304" pitchFamily="18" charset="0"/>
              </a:rPr>
              <a:t>İlk iki mısra doldurmadır, konuya giriş için söylenir. Son iki mısrada ise asıl söylenmek istenen verilir</a:t>
            </a:r>
            <a:r>
              <a:rPr lang="tr-TR" dirty="0" smtClean="0">
                <a:solidFill>
                  <a:srgbClr val="000000"/>
                </a:solidFill>
                <a:latin typeface="Times New Roman" panose="02020603050405020304" pitchFamily="18" charset="0"/>
              </a:rPr>
              <a:t>.</a:t>
            </a:r>
            <a:r>
              <a:rPr lang="tr-TR" dirty="0">
                <a:solidFill>
                  <a:srgbClr val="000000"/>
                </a:solidFill>
                <a:latin typeface="Times New Roman" panose="02020603050405020304" pitchFamily="18" charset="0"/>
              </a:rPr>
              <a:t> Uyak düzeni </a:t>
            </a:r>
            <a:r>
              <a:rPr lang="tr-TR" b="1" dirty="0" err="1">
                <a:solidFill>
                  <a:srgbClr val="000000"/>
                </a:solidFill>
                <a:latin typeface="Times New Roman" panose="02020603050405020304" pitchFamily="18" charset="0"/>
              </a:rPr>
              <a:t>aaba</a:t>
            </a:r>
            <a:r>
              <a:rPr lang="tr-TR" dirty="0">
                <a:solidFill>
                  <a:srgbClr val="000000"/>
                </a:solidFill>
                <a:latin typeface="Times New Roman" panose="02020603050405020304" pitchFamily="18" charset="0"/>
              </a:rPr>
              <a:t> şeklindedir.</a:t>
            </a:r>
            <a:endParaRPr lang="tr-TR" dirty="0" smtClean="0">
              <a:solidFill>
                <a:srgbClr val="000000"/>
              </a:solidFill>
              <a:latin typeface="Times New Roman" panose="02020603050405020304" pitchFamily="18" charset="0"/>
            </a:endParaRPr>
          </a:p>
          <a:p>
            <a:pPr indent="571500" algn="just"/>
            <a:endParaRPr lang="tr-TR" b="0" i="0" dirty="0">
              <a:solidFill>
                <a:srgbClr val="000000"/>
              </a:solidFill>
              <a:effectLst/>
              <a:latin typeface="Times New Roman" panose="02020603050405020304" pitchFamily="18" charset="0"/>
            </a:endParaRPr>
          </a:p>
        </p:txBody>
      </p:sp>
      <p:sp>
        <p:nvSpPr>
          <p:cNvPr id="3" name="Unvan 2"/>
          <p:cNvSpPr>
            <a:spLocks noGrp="1"/>
          </p:cNvSpPr>
          <p:nvPr>
            <p:ph type="title"/>
          </p:nvPr>
        </p:nvSpPr>
        <p:spPr/>
        <p:txBody>
          <a:bodyPr/>
          <a:lstStyle/>
          <a:p>
            <a:r>
              <a:rPr lang="tr-TR" dirty="0" smtClean="0"/>
              <a:t>MANİ</a:t>
            </a:r>
            <a:endParaRPr lang="tr-TR" dirty="0"/>
          </a:p>
        </p:txBody>
      </p:sp>
    </p:spTree>
    <p:extLst>
      <p:ext uri="{BB962C8B-B14F-4D97-AF65-F5344CB8AC3E}">
        <p14:creationId xmlns:p14="http://schemas.microsoft.com/office/powerpoint/2010/main" val="22749820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indent="571500" algn="just"/>
            <a:r>
              <a:rPr lang="tr-TR" sz="1800" b="1" cap="all" dirty="0">
                <a:solidFill>
                  <a:srgbClr val="000000"/>
                </a:solidFill>
                <a:latin typeface="Times New Roman" panose="02020603050405020304" pitchFamily="18" charset="0"/>
              </a:rPr>
              <a:t>KOÇAKLAMA</a:t>
            </a:r>
            <a:endParaRPr lang="tr-TR" sz="1800" b="1" dirty="0">
              <a:solidFill>
                <a:srgbClr val="000000"/>
              </a:solidFill>
              <a:latin typeface="Times New Roman" panose="02020603050405020304" pitchFamily="18" charset="0"/>
            </a:endParaRPr>
          </a:p>
          <a:p>
            <a:pPr indent="571500" algn="just"/>
            <a:r>
              <a:rPr lang="tr-TR" dirty="0">
                <a:solidFill>
                  <a:srgbClr val="000000"/>
                </a:solidFill>
                <a:latin typeface="Times New Roman" panose="02020603050405020304" pitchFamily="18" charset="0"/>
              </a:rPr>
              <a:t> </a:t>
            </a:r>
          </a:p>
          <a:p>
            <a:pPr indent="571500" algn="just"/>
            <a:r>
              <a:rPr lang="tr-TR" dirty="0">
                <a:solidFill>
                  <a:srgbClr val="000000"/>
                </a:solidFill>
                <a:latin typeface="Times New Roman" panose="02020603050405020304" pitchFamily="18" charset="0"/>
              </a:rPr>
              <a:t>Coşkun ve yiğitçe bir üslûpla yiğitlik, kahramanlık ve savaş konularını işler.</a:t>
            </a:r>
          </a:p>
          <a:p>
            <a:pPr indent="571500" algn="just"/>
            <a:r>
              <a:rPr lang="tr-TR">
                <a:solidFill>
                  <a:srgbClr val="000000"/>
                </a:solidFill>
                <a:latin typeface="Times New Roman" panose="02020603050405020304" pitchFamily="18" charset="0"/>
              </a:rPr>
              <a:t>Epik </a:t>
            </a:r>
            <a:r>
              <a:rPr lang="tr-TR" smtClean="0">
                <a:solidFill>
                  <a:srgbClr val="000000"/>
                </a:solidFill>
                <a:latin typeface="Times New Roman" panose="02020603050405020304" pitchFamily="18" charset="0"/>
              </a:rPr>
              <a:t>şiirlerdir.</a:t>
            </a:r>
          </a:p>
          <a:p>
            <a:pPr indent="571500" algn="just"/>
            <a:r>
              <a:rPr lang="tr-TR" smtClean="0">
                <a:solidFill>
                  <a:srgbClr val="000000"/>
                </a:solidFill>
                <a:latin typeface="Times New Roman" panose="02020603050405020304" pitchFamily="18" charset="0"/>
              </a:rPr>
              <a:t> </a:t>
            </a:r>
            <a:r>
              <a:rPr lang="tr-TR" dirty="0" smtClean="0">
                <a:solidFill>
                  <a:srgbClr val="000000"/>
                </a:solidFill>
                <a:latin typeface="Times New Roman" panose="02020603050405020304" pitchFamily="18" charset="0"/>
              </a:rPr>
              <a:t>Edebiyatımızda </a:t>
            </a:r>
            <a:r>
              <a:rPr lang="tr-TR" dirty="0">
                <a:solidFill>
                  <a:srgbClr val="000000"/>
                </a:solidFill>
                <a:latin typeface="Times New Roman" panose="02020603050405020304" pitchFamily="18" charset="0"/>
              </a:rPr>
              <a:t>Köroğlu ve Dadaloğlu </a:t>
            </a:r>
            <a:r>
              <a:rPr lang="tr-TR" dirty="0" err="1">
                <a:solidFill>
                  <a:srgbClr val="000000"/>
                </a:solidFill>
                <a:latin typeface="Times New Roman" panose="02020603050405020304" pitchFamily="18" charset="0"/>
              </a:rPr>
              <a:t>koçaklama</a:t>
            </a:r>
            <a:r>
              <a:rPr lang="tr-TR" dirty="0">
                <a:solidFill>
                  <a:srgbClr val="000000"/>
                </a:solidFill>
                <a:latin typeface="Times New Roman" panose="02020603050405020304" pitchFamily="18" charset="0"/>
              </a:rPr>
              <a:t> şairi olarak tanınır.</a:t>
            </a:r>
          </a:p>
          <a:p>
            <a:pPr indent="571500" algn="just"/>
            <a:r>
              <a:rPr lang="tr-TR" dirty="0">
                <a:solidFill>
                  <a:srgbClr val="000000"/>
                </a:solidFill>
                <a:latin typeface="Times New Roman" panose="02020603050405020304" pitchFamily="18" charset="0"/>
              </a:rPr>
              <a:t> </a:t>
            </a:r>
          </a:p>
          <a:p>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6155283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pPr indent="571500" algn="just"/>
            <a:r>
              <a:rPr lang="tr-TR" sz="1800" b="1" cap="all" dirty="0">
                <a:solidFill>
                  <a:srgbClr val="000000"/>
                </a:solidFill>
                <a:latin typeface="Times New Roman" panose="02020603050405020304" pitchFamily="18" charset="0"/>
              </a:rPr>
              <a:t>TAŞLAMA</a:t>
            </a:r>
            <a:endParaRPr lang="tr-TR" sz="1800" b="1" dirty="0">
              <a:solidFill>
                <a:srgbClr val="000000"/>
              </a:solidFill>
              <a:latin typeface="Times New Roman" panose="02020603050405020304" pitchFamily="18" charset="0"/>
            </a:endParaRPr>
          </a:p>
          <a:p>
            <a:pPr indent="0" algn="just">
              <a:buNone/>
            </a:pPr>
            <a:r>
              <a:rPr lang="tr-TR" dirty="0">
                <a:solidFill>
                  <a:srgbClr val="000000"/>
                </a:solidFill>
                <a:latin typeface="Times New Roman" panose="02020603050405020304" pitchFamily="18" charset="0"/>
              </a:rPr>
              <a:t> </a:t>
            </a:r>
          </a:p>
          <a:p>
            <a:pPr indent="571500" algn="just"/>
            <a:r>
              <a:rPr lang="tr-TR" dirty="0">
                <a:solidFill>
                  <a:srgbClr val="000000"/>
                </a:solidFill>
                <a:latin typeface="Times New Roman" panose="02020603050405020304" pitchFamily="18" charset="0"/>
              </a:rPr>
              <a:t>Bir kimseyi veya toplumun bozuk yönlerini eleştirmek için yazılan şiirlerdir</a:t>
            </a:r>
            <a:r>
              <a:rPr lang="tr-TR" dirty="0" smtClean="0">
                <a:solidFill>
                  <a:srgbClr val="000000"/>
                </a:solidFill>
                <a:latin typeface="Times New Roman" panose="02020603050405020304" pitchFamily="18" charset="0"/>
              </a:rPr>
              <a:t>.</a:t>
            </a:r>
            <a:endParaRPr lang="tr-TR" dirty="0">
              <a:solidFill>
                <a:srgbClr val="000000"/>
              </a:solidFill>
              <a:latin typeface="Times New Roman" panose="02020603050405020304" pitchFamily="18" charset="0"/>
            </a:endParaRPr>
          </a:p>
          <a:p>
            <a:pPr indent="571500" algn="just"/>
            <a:r>
              <a:rPr lang="tr-TR" dirty="0">
                <a:solidFill>
                  <a:srgbClr val="000000"/>
                </a:solidFill>
                <a:latin typeface="Times New Roman" panose="02020603050405020304" pitchFamily="18" charset="0"/>
              </a:rPr>
              <a:t>Aşık Dertli, Bayburtlu Zihni, </a:t>
            </a:r>
            <a:r>
              <a:rPr lang="tr-TR" dirty="0" err="1">
                <a:solidFill>
                  <a:srgbClr val="000000"/>
                </a:solidFill>
                <a:latin typeface="Times New Roman" panose="02020603050405020304" pitchFamily="18" charset="0"/>
              </a:rPr>
              <a:t>Ruhsati</a:t>
            </a:r>
            <a:r>
              <a:rPr lang="tr-TR" dirty="0">
                <a:solidFill>
                  <a:srgbClr val="000000"/>
                </a:solidFill>
                <a:latin typeface="Times New Roman" panose="02020603050405020304" pitchFamily="18" charset="0"/>
              </a:rPr>
              <a:t> ve Develili </a:t>
            </a:r>
            <a:r>
              <a:rPr lang="tr-TR" dirty="0" err="1">
                <a:solidFill>
                  <a:srgbClr val="000000"/>
                </a:solidFill>
                <a:latin typeface="Times New Roman" panose="02020603050405020304" pitchFamily="18" charset="0"/>
              </a:rPr>
              <a:t>Seyrani</a:t>
            </a:r>
            <a:r>
              <a:rPr lang="tr-TR" dirty="0">
                <a:solidFill>
                  <a:srgbClr val="000000"/>
                </a:solidFill>
                <a:latin typeface="Times New Roman" panose="02020603050405020304" pitchFamily="18" charset="0"/>
              </a:rPr>
              <a:t> önemli taşlama şairleridir.</a:t>
            </a:r>
          </a:p>
          <a:p>
            <a:pPr indent="571500" algn="just"/>
            <a:r>
              <a:rPr lang="tr-TR" dirty="0">
                <a:solidFill>
                  <a:srgbClr val="000000"/>
                </a:solidFill>
                <a:latin typeface="Times New Roman" panose="02020603050405020304" pitchFamily="18" charset="0"/>
              </a:rPr>
              <a:t>Divan edebiyatındaki adı </a:t>
            </a:r>
            <a:r>
              <a:rPr lang="tr-TR" dirty="0" err="1">
                <a:solidFill>
                  <a:srgbClr val="000000"/>
                </a:solidFill>
                <a:latin typeface="Times New Roman" panose="02020603050405020304" pitchFamily="18" charset="0"/>
              </a:rPr>
              <a:t>hicviye’dir</a:t>
            </a:r>
            <a:r>
              <a:rPr lang="tr-TR" dirty="0">
                <a:solidFill>
                  <a:srgbClr val="000000"/>
                </a:solidFill>
                <a:latin typeface="Times New Roman" panose="02020603050405020304" pitchFamily="18" charset="0"/>
              </a:rPr>
              <a:t>.</a:t>
            </a:r>
          </a:p>
          <a:p>
            <a:pPr indent="571500" algn="just"/>
            <a:endParaRPr lang="tr-TR" dirty="0">
              <a:solidFill>
                <a:srgbClr val="000000"/>
              </a:solidFill>
              <a:latin typeface="Times New Roman" panose="02020603050405020304" pitchFamily="18" charset="0"/>
            </a:endParaRP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2774006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err="1" smtClean="0"/>
              <a:t>Poetika</a:t>
            </a:r>
            <a:r>
              <a:rPr lang="tr-TR" dirty="0" smtClean="0"/>
              <a:t>: </a:t>
            </a:r>
            <a:r>
              <a:rPr lang="tr-TR" dirty="0" smtClean="0">
                <a:solidFill>
                  <a:srgbClr val="000000"/>
                </a:solidFill>
                <a:latin typeface="Enriqueta-Regular"/>
              </a:rPr>
              <a:t>“Şiir sanatı üzerine söylenmiş/yazılmış derli toplu görüşleri, teorileri içeren yazı.”</a:t>
            </a:r>
          </a:p>
          <a:p>
            <a:r>
              <a:rPr lang="tr-TR" dirty="0" smtClean="0">
                <a:solidFill>
                  <a:srgbClr val="000000"/>
                </a:solidFill>
                <a:latin typeface="Enriqueta-Regular"/>
              </a:rPr>
              <a:t>Edebiyatımızda bugünkü manasıyla </a:t>
            </a:r>
            <a:r>
              <a:rPr lang="tr-TR" dirty="0" err="1" smtClean="0">
                <a:solidFill>
                  <a:srgbClr val="000000"/>
                </a:solidFill>
                <a:latin typeface="Enriqueta-Regular"/>
              </a:rPr>
              <a:t>poetika</a:t>
            </a:r>
            <a:r>
              <a:rPr lang="tr-TR" dirty="0" smtClean="0">
                <a:solidFill>
                  <a:srgbClr val="000000"/>
                </a:solidFill>
                <a:latin typeface="Enriqueta-Regular"/>
              </a:rPr>
              <a:t> yazma geleneği  Ahmet Haşim’le başlamıştır</a:t>
            </a:r>
            <a:r>
              <a:rPr lang="tr-TR" smtClean="0">
                <a:solidFill>
                  <a:srgbClr val="000000"/>
                </a:solidFill>
                <a:latin typeface="Enriqueta-Regular"/>
              </a:rPr>
              <a:t>, denebilir.</a:t>
            </a:r>
            <a:endParaRPr lang="tr-TR" dirty="0"/>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12625147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normAutofit fontScale="92500" lnSpcReduction="10000"/>
          </a:bodyPr>
          <a:lstStyle/>
          <a:p>
            <a:pPr fontAlgn="base"/>
            <a:r>
              <a:rPr lang="tr-TR" dirty="0">
                <a:solidFill>
                  <a:srgbClr val="141823"/>
                </a:solidFill>
                <a:latin typeface="Roboto"/>
              </a:rPr>
              <a:t>Geceleyin bir ses böler uykumu,</a:t>
            </a:r>
            <a:br>
              <a:rPr lang="tr-TR" dirty="0">
                <a:solidFill>
                  <a:srgbClr val="141823"/>
                </a:solidFill>
                <a:latin typeface="Roboto"/>
              </a:rPr>
            </a:br>
            <a:r>
              <a:rPr lang="tr-TR" dirty="0">
                <a:solidFill>
                  <a:srgbClr val="141823"/>
                </a:solidFill>
                <a:latin typeface="Roboto"/>
              </a:rPr>
              <a:t>İçim ürpermeyle dolar: - </a:t>
            </a:r>
            <a:r>
              <a:rPr lang="tr-TR" dirty="0" err="1">
                <a:solidFill>
                  <a:srgbClr val="141823"/>
                </a:solidFill>
                <a:latin typeface="Roboto"/>
              </a:rPr>
              <a:t>Nerdesin</a:t>
            </a:r>
            <a:r>
              <a:rPr lang="tr-TR" dirty="0">
                <a:solidFill>
                  <a:srgbClr val="141823"/>
                </a:solidFill>
                <a:latin typeface="Roboto"/>
              </a:rPr>
              <a:t>?</a:t>
            </a:r>
            <a:br>
              <a:rPr lang="tr-TR" dirty="0">
                <a:solidFill>
                  <a:srgbClr val="141823"/>
                </a:solidFill>
                <a:latin typeface="Roboto"/>
              </a:rPr>
            </a:br>
            <a:r>
              <a:rPr lang="tr-TR" dirty="0">
                <a:solidFill>
                  <a:srgbClr val="141823"/>
                </a:solidFill>
                <a:latin typeface="Roboto"/>
              </a:rPr>
              <a:t>Arıyorum yıllar var ki, ben onu,</a:t>
            </a:r>
            <a:br>
              <a:rPr lang="tr-TR" dirty="0">
                <a:solidFill>
                  <a:srgbClr val="141823"/>
                </a:solidFill>
                <a:latin typeface="Roboto"/>
              </a:rPr>
            </a:br>
            <a:r>
              <a:rPr lang="tr-TR" dirty="0" err="1">
                <a:solidFill>
                  <a:srgbClr val="141823"/>
                </a:solidFill>
                <a:latin typeface="Roboto"/>
              </a:rPr>
              <a:t>Aşıkıyım</a:t>
            </a:r>
            <a:r>
              <a:rPr lang="tr-TR" dirty="0">
                <a:solidFill>
                  <a:srgbClr val="141823"/>
                </a:solidFill>
                <a:latin typeface="Roboto"/>
              </a:rPr>
              <a:t> beni çağıran bu sesin.</a:t>
            </a:r>
          </a:p>
          <a:p>
            <a:pPr fontAlgn="base"/>
            <a:r>
              <a:rPr lang="tr-TR" dirty="0">
                <a:solidFill>
                  <a:srgbClr val="141823"/>
                </a:solidFill>
                <a:latin typeface="Roboto"/>
              </a:rPr>
              <a:t>Gün olur sürüyüp beni derbeder,</a:t>
            </a:r>
            <a:br>
              <a:rPr lang="tr-TR" dirty="0">
                <a:solidFill>
                  <a:srgbClr val="141823"/>
                </a:solidFill>
                <a:latin typeface="Roboto"/>
              </a:rPr>
            </a:br>
            <a:r>
              <a:rPr lang="tr-TR" dirty="0">
                <a:solidFill>
                  <a:srgbClr val="141823"/>
                </a:solidFill>
                <a:latin typeface="Roboto"/>
              </a:rPr>
              <a:t>Bu ses rüzgarlara karışır gider.</a:t>
            </a:r>
            <a:br>
              <a:rPr lang="tr-TR" dirty="0">
                <a:solidFill>
                  <a:srgbClr val="141823"/>
                </a:solidFill>
                <a:latin typeface="Roboto"/>
              </a:rPr>
            </a:br>
            <a:r>
              <a:rPr lang="tr-TR" dirty="0">
                <a:solidFill>
                  <a:srgbClr val="141823"/>
                </a:solidFill>
                <a:latin typeface="Roboto"/>
              </a:rPr>
              <a:t>Gün olur peşimden yürür beraber,</a:t>
            </a:r>
            <a:br>
              <a:rPr lang="tr-TR" dirty="0">
                <a:solidFill>
                  <a:srgbClr val="141823"/>
                </a:solidFill>
                <a:latin typeface="Roboto"/>
              </a:rPr>
            </a:br>
            <a:r>
              <a:rPr lang="tr-TR" dirty="0">
                <a:solidFill>
                  <a:srgbClr val="141823"/>
                </a:solidFill>
                <a:latin typeface="Roboto"/>
              </a:rPr>
              <a:t>Ansızın haykırır bana: -</a:t>
            </a:r>
            <a:r>
              <a:rPr lang="tr-TR" dirty="0" err="1">
                <a:solidFill>
                  <a:srgbClr val="141823"/>
                </a:solidFill>
                <a:latin typeface="Roboto"/>
              </a:rPr>
              <a:t>Nerdesin</a:t>
            </a:r>
            <a:r>
              <a:rPr lang="tr-TR" dirty="0">
                <a:solidFill>
                  <a:srgbClr val="141823"/>
                </a:solidFill>
                <a:latin typeface="Roboto"/>
              </a:rPr>
              <a:t>?</a:t>
            </a:r>
          </a:p>
          <a:p>
            <a:pPr fontAlgn="base"/>
            <a:r>
              <a:rPr lang="tr-TR" dirty="0">
                <a:solidFill>
                  <a:srgbClr val="141823"/>
                </a:solidFill>
                <a:latin typeface="Roboto"/>
              </a:rPr>
              <a:t>Bütün sevgileri atıp içimden,</a:t>
            </a:r>
            <a:br>
              <a:rPr lang="tr-TR" dirty="0">
                <a:solidFill>
                  <a:srgbClr val="141823"/>
                </a:solidFill>
                <a:latin typeface="Roboto"/>
              </a:rPr>
            </a:br>
            <a:r>
              <a:rPr lang="tr-TR" dirty="0">
                <a:solidFill>
                  <a:srgbClr val="141823"/>
                </a:solidFill>
                <a:latin typeface="Roboto"/>
              </a:rPr>
              <a:t>Varlığımı yalnız ona verdim ben.</a:t>
            </a:r>
            <a:br>
              <a:rPr lang="tr-TR" dirty="0">
                <a:solidFill>
                  <a:srgbClr val="141823"/>
                </a:solidFill>
                <a:latin typeface="Roboto"/>
              </a:rPr>
            </a:br>
            <a:r>
              <a:rPr lang="tr-TR" dirty="0">
                <a:solidFill>
                  <a:srgbClr val="141823"/>
                </a:solidFill>
                <a:latin typeface="Roboto"/>
              </a:rPr>
              <a:t>Elverir ki bir gün bana derinden,</a:t>
            </a:r>
            <a:br>
              <a:rPr lang="tr-TR" dirty="0">
                <a:solidFill>
                  <a:srgbClr val="141823"/>
                </a:solidFill>
                <a:latin typeface="Roboto"/>
              </a:rPr>
            </a:br>
            <a:r>
              <a:rPr lang="tr-TR" dirty="0">
                <a:solidFill>
                  <a:srgbClr val="141823"/>
                </a:solidFill>
                <a:latin typeface="Roboto"/>
              </a:rPr>
              <a:t>Ta derinden bir gün bana ''Gel'' desin.</a:t>
            </a:r>
          </a:p>
          <a:p>
            <a:endParaRPr lang="tr-TR" dirty="0"/>
          </a:p>
        </p:txBody>
      </p:sp>
      <p:sp>
        <p:nvSpPr>
          <p:cNvPr id="3" name="Unvan 2"/>
          <p:cNvSpPr>
            <a:spLocks noGrp="1"/>
          </p:cNvSpPr>
          <p:nvPr>
            <p:ph type="title"/>
          </p:nvPr>
        </p:nvSpPr>
        <p:spPr/>
        <p:txBody>
          <a:bodyPr>
            <a:normAutofit fontScale="90000"/>
          </a:bodyPr>
          <a:lstStyle/>
          <a:p>
            <a:r>
              <a:rPr lang="tr-TR" dirty="0" smtClean="0"/>
              <a:t>Ahmet Kutsi Tecer «</a:t>
            </a:r>
            <a:r>
              <a:rPr lang="tr-TR" dirty="0" err="1" smtClean="0"/>
              <a:t>Nerdesin</a:t>
            </a:r>
            <a:r>
              <a:rPr lang="tr-TR" dirty="0" smtClean="0"/>
              <a:t>?»</a:t>
            </a:r>
            <a:br>
              <a:rPr lang="tr-TR" dirty="0" smtClean="0"/>
            </a:br>
            <a:r>
              <a:rPr lang="tr-TR" dirty="0" smtClean="0"/>
              <a:t>şiirini yorumlayın.</a:t>
            </a:r>
            <a:endParaRPr lang="tr-TR" dirty="0"/>
          </a:p>
        </p:txBody>
      </p:sp>
    </p:spTree>
    <p:extLst>
      <p:ext uri="{BB962C8B-B14F-4D97-AF65-F5344CB8AC3E}">
        <p14:creationId xmlns:p14="http://schemas.microsoft.com/office/powerpoint/2010/main" val="6581404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İçerik Yer Tutucusu"/>
          <p:cNvSpPr>
            <a:spLocks noGrp="1"/>
          </p:cNvSpPr>
          <p:nvPr>
            <p:ph idx="1"/>
          </p:nvPr>
        </p:nvSpPr>
        <p:spPr/>
        <p:txBody>
          <a:bodyPr>
            <a:normAutofit fontScale="62500" lnSpcReduction="20000"/>
          </a:bodyPr>
          <a:lstStyle/>
          <a:p>
            <a:pPr>
              <a:buNone/>
            </a:pPr>
            <a:r>
              <a:rPr lang="tr-TR" dirty="0" smtClean="0"/>
              <a:t>           </a:t>
            </a:r>
          </a:p>
          <a:p>
            <a:r>
              <a:rPr lang="tr-TR" dirty="0" smtClean="0"/>
              <a:t>             1.Özkan  Mustafa, Esin Osman, Tören Hatice, "Yüksek Öğretimde Türk Dili                          (Yazılı ve Sözlü anlatım)",Filiz Kitabevi, İstanbul 2001</a:t>
            </a:r>
          </a:p>
          <a:p>
            <a:r>
              <a:rPr lang="tr-TR" dirty="0" smtClean="0"/>
              <a:t>               2.</a:t>
            </a:r>
            <a:r>
              <a:rPr lang="tr-TR" dirty="0" err="1" smtClean="0"/>
              <a:t>Karaalioğlu</a:t>
            </a:r>
            <a:r>
              <a:rPr lang="tr-TR" dirty="0" smtClean="0"/>
              <a:t>, Seyit Kemal, "Kompozisyon Sanatı", İnkılâp Yayınları, İstanbul</a:t>
            </a:r>
          </a:p>
          <a:p>
            <a:r>
              <a:rPr lang="tr-TR" dirty="0" smtClean="0"/>
              <a:t>               3.</a:t>
            </a:r>
            <a:r>
              <a:rPr lang="tr-TR" dirty="0" err="1" smtClean="0"/>
              <a:t>Gülensoy</a:t>
            </a:r>
            <a:r>
              <a:rPr lang="tr-TR" dirty="0" smtClean="0"/>
              <a:t>, </a:t>
            </a:r>
            <a:r>
              <a:rPr lang="tr-TR" dirty="0" err="1" smtClean="0"/>
              <a:t>Tuncer</a:t>
            </a:r>
            <a:r>
              <a:rPr lang="tr-TR" dirty="0" smtClean="0"/>
              <a:t>, "Türkçe El Kitabı", </a:t>
            </a:r>
            <a:r>
              <a:rPr lang="tr-TR" dirty="0" err="1" smtClean="0"/>
              <a:t>Akçağ</a:t>
            </a:r>
            <a:r>
              <a:rPr lang="tr-TR" dirty="0" smtClean="0"/>
              <a:t>, Ankara 2000, 1. Baskı</a:t>
            </a:r>
          </a:p>
          <a:p>
            <a:r>
              <a:rPr lang="tr-TR" dirty="0" smtClean="0"/>
              <a:t>               4.Öner, Sakin, "Örneklerle Kompozisyon Sanatı", Yuva Yayınları, İstanbul, 7. Baskı</a:t>
            </a:r>
          </a:p>
          <a:p>
            <a:r>
              <a:rPr lang="tr-TR" dirty="0" smtClean="0"/>
              <a:t>               5.Hisar, </a:t>
            </a:r>
            <a:r>
              <a:rPr lang="tr-TR" dirty="0" err="1" smtClean="0"/>
              <a:t>Abdülhak</a:t>
            </a:r>
            <a:r>
              <a:rPr lang="tr-TR" dirty="0" smtClean="0"/>
              <a:t> Şinasi, Geçmiş Zaman Edipleri, Selis Kitaplar, İstanbul 2005</a:t>
            </a:r>
          </a:p>
          <a:p>
            <a:r>
              <a:rPr lang="tr-TR" dirty="0" smtClean="0"/>
              <a:t>              6.Baysal, Faik, "Gül Sancısı" Adapazarı Büyükşehir Belediyesi", Adapazarı 2001</a:t>
            </a:r>
          </a:p>
          <a:p>
            <a:r>
              <a:rPr lang="tr-TR" dirty="0" smtClean="0"/>
              <a:t>              7.Çağdaş Eyüboğlu, Çağdaş Türk Edebiyatında "Unutulmayan Şiirler Antolojisi", Simge                </a:t>
            </a:r>
            <a:r>
              <a:rPr lang="tr-TR" dirty="0" err="1" smtClean="0"/>
              <a:t>Kitabevi</a:t>
            </a:r>
            <a:r>
              <a:rPr lang="tr-TR" dirty="0" smtClean="0"/>
              <a:t>,  Antalya, 6.Baskı</a:t>
            </a:r>
          </a:p>
          <a:p>
            <a:pPr>
              <a:buNone/>
            </a:pPr>
            <a:r>
              <a:rPr lang="tr-TR" dirty="0" smtClean="0"/>
              <a:t> </a:t>
            </a:r>
            <a:r>
              <a:rPr lang="tr-TR" dirty="0"/>
              <a:t> </a:t>
            </a:r>
            <a:r>
              <a:rPr lang="tr-TR" dirty="0" smtClean="0"/>
              <a:t>                8. Karataş, Turan, Edebiyat Terimleri Sözlüğü, </a:t>
            </a:r>
            <a:r>
              <a:rPr lang="tr-TR" dirty="0" err="1" smtClean="0"/>
              <a:t>Akçağ</a:t>
            </a:r>
            <a:r>
              <a:rPr lang="tr-TR" dirty="0" smtClean="0"/>
              <a:t>, Ankara 2004, 2. </a:t>
            </a:r>
            <a:r>
              <a:rPr lang="tr-TR" smtClean="0"/>
              <a:t>baskı</a:t>
            </a:r>
            <a:endParaRPr lang="tr-TR" dirty="0" smtClean="0"/>
          </a:p>
          <a:p>
            <a:pPr>
              <a:buNone/>
            </a:pPr>
            <a:r>
              <a:rPr lang="tr-TR" i="1" dirty="0" smtClean="0"/>
              <a:t> </a:t>
            </a:r>
            <a:endParaRPr lang="tr-TR" dirty="0" smtClean="0"/>
          </a:p>
          <a:p>
            <a:endParaRPr lang="tr-TR" dirty="0"/>
          </a:p>
        </p:txBody>
      </p:sp>
      <p:sp>
        <p:nvSpPr>
          <p:cNvPr id="3" name="2 Başlık"/>
          <p:cNvSpPr>
            <a:spLocks noGrp="1"/>
          </p:cNvSpPr>
          <p:nvPr>
            <p:ph type="title"/>
          </p:nvPr>
        </p:nvSpPr>
        <p:spPr/>
        <p:txBody>
          <a:bodyPr>
            <a:normAutofit fontScale="90000"/>
          </a:bodyPr>
          <a:lstStyle/>
          <a:p>
            <a:r>
              <a:rPr lang="tr-TR" dirty="0" smtClean="0"/>
              <a:t> </a:t>
            </a:r>
            <a:br>
              <a:rPr lang="tr-TR" dirty="0" smtClean="0"/>
            </a:br>
            <a:r>
              <a:rPr lang="tr-TR" dirty="0" smtClean="0"/>
              <a:t>                 KAYNAKÇA             </a:t>
            </a:r>
            <a:br>
              <a:rPr lang="tr-TR" dirty="0" smtClean="0"/>
            </a:br>
            <a:endParaRPr lang="tr-TR"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p:cNvSpPr>
            <a:spLocks noGrp="1"/>
          </p:cNvSpPr>
          <p:nvPr>
            <p:ph idx="1"/>
          </p:nvPr>
        </p:nvSpPr>
        <p:spPr/>
        <p:txBody>
          <a:bodyPr/>
          <a:lstStyle/>
          <a:p>
            <a:r>
              <a:rPr lang="tr-TR" dirty="0" smtClean="0"/>
              <a:t>Dersimiz bitmiştir</a:t>
            </a:r>
            <a:r>
              <a:rPr lang="tr-TR" smtClean="0"/>
              <a:t>. </a:t>
            </a:r>
          </a:p>
          <a:p>
            <a:r>
              <a:rPr lang="tr-TR" smtClean="0"/>
              <a:t>Dinlediğiniz </a:t>
            </a:r>
            <a:r>
              <a:rPr lang="tr-TR" dirty="0" smtClean="0"/>
              <a:t>için </a:t>
            </a:r>
            <a:r>
              <a:rPr lang="tr-TR" smtClean="0"/>
              <a:t>teşekkür ederim.</a:t>
            </a:r>
            <a:endParaRPr lang="tr-TR"/>
          </a:p>
        </p:txBody>
      </p:sp>
      <p:sp>
        <p:nvSpPr>
          <p:cNvPr id="3" name="Unvan 2"/>
          <p:cNvSpPr>
            <a:spLocks noGrp="1"/>
          </p:cNvSpPr>
          <p:nvPr>
            <p:ph type="title"/>
          </p:nvPr>
        </p:nvSpPr>
        <p:spPr/>
        <p:txBody>
          <a:bodyPr/>
          <a:lstStyle/>
          <a:p>
            <a:endParaRPr lang="tr-TR"/>
          </a:p>
        </p:txBody>
      </p:sp>
    </p:spTree>
    <p:extLst>
      <p:ext uri="{BB962C8B-B14F-4D97-AF65-F5344CB8AC3E}">
        <p14:creationId xmlns:p14="http://schemas.microsoft.com/office/powerpoint/2010/main" val="31787513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alabalık">
  <a:themeElements>
    <a:clrScheme name="Kalabalık">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Kalabalık">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Kalabalık">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342</TotalTime>
  <Words>2483</Words>
  <Application>Microsoft Office PowerPoint</Application>
  <PresentationFormat>Ekran Gösterisi (4:3)</PresentationFormat>
  <Paragraphs>279</Paragraphs>
  <Slides>78</Slides>
  <Notes>0</Notes>
  <HiddenSlides>0</HiddenSlides>
  <MMClips>0</MMClips>
  <ScaleCrop>false</ScaleCrop>
  <HeadingPairs>
    <vt:vector size="6" baseType="variant">
      <vt:variant>
        <vt:lpstr>Kullanılan Yazı Tipleri</vt:lpstr>
      </vt:variant>
      <vt:variant>
        <vt:i4>14</vt:i4>
      </vt:variant>
      <vt:variant>
        <vt:lpstr>Tema</vt:lpstr>
      </vt:variant>
      <vt:variant>
        <vt:i4>1</vt:i4>
      </vt:variant>
      <vt:variant>
        <vt:lpstr>Slayt Başlıkları</vt:lpstr>
      </vt:variant>
      <vt:variant>
        <vt:i4>78</vt:i4>
      </vt:variant>
    </vt:vector>
  </HeadingPairs>
  <TitlesOfParts>
    <vt:vector size="93" baseType="lpstr">
      <vt:lpstr>Arial</vt:lpstr>
      <vt:lpstr>AvenirNext</vt:lpstr>
      <vt:lpstr>Calibri</vt:lpstr>
      <vt:lpstr>Enriqueta-Regular</vt:lpstr>
      <vt:lpstr>Lucida Sans Unicode</vt:lpstr>
      <vt:lpstr>Roboto</vt:lpstr>
      <vt:lpstr>tahoma</vt:lpstr>
      <vt:lpstr>Times New Roman</vt:lpstr>
      <vt:lpstr>TimesNewRomanPS-BoldMT</vt:lpstr>
      <vt:lpstr>TimesNewRomanPS-ItalicMT</vt:lpstr>
      <vt:lpstr>TimesNewRomanPSMT</vt:lpstr>
      <vt:lpstr>Verdana</vt:lpstr>
      <vt:lpstr>Wingdings 2</vt:lpstr>
      <vt:lpstr>Wingdings 3</vt:lpstr>
      <vt:lpstr>Kalabalık</vt:lpstr>
      <vt:lpstr>YAZILI ANLATIM TÜRLERİ ŞİİR (manzume, nazım) </vt:lpstr>
      <vt:lpstr>YAZILI ANLATIM TÜRLERİ </vt:lpstr>
      <vt:lpstr>PowerPoint Sunusu</vt:lpstr>
      <vt:lpstr>PowerPoint Sunusu</vt:lpstr>
      <vt:lpstr>ŞİİR</vt:lpstr>
      <vt:lpstr>PowerPoint Sunusu</vt:lpstr>
      <vt:lpstr>Muathan Mungan «Eskidendi Çok Eskiden»</vt:lpstr>
      <vt:lpstr>PowerPoint Sunusu</vt:lpstr>
      <vt:lpstr>PowerPoint Sunusu</vt:lpstr>
      <vt:lpstr>PowerPoint Sunusu</vt:lpstr>
      <vt:lpstr>PowerPoint Sunusu</vt:lpstr>
      <vt:lpstr>Milyon Kere Ayten – Ümit Yaşar Oğuzcan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Şiirin Unsurları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ŞİİRİN ÖNEMi</vt:lpstr>
      <vt:lpstr>PowerPoint Sunusu</vt:lpstr>
      <vt:lpstr>PowerPoint Sunusu</vt:lpstr>
      <vt:lpstr>PowerPoint Sunusu</vt:lpstr>
      <vt:lpstr>PowerPoint Sunusu</vt:lpstr>
      <vt:lpstr>PowerPoint Sunusu</vt:lpstr>
      <vt:lpstr>KONULARINA GÖRE ŞİİR TÜRLERİ </vt:lpstr>
      <vt:lpstr>PowerPoint Sunusu</vt:lpstr>
      <vt:lpstr>EPİK ŞİİR </vt:lpstr>
      <vt:lpstr>FETİH MARŞI </vt:lpstr>
      <vt:lpstr>PowerPoint Sunusu</vt:lpstr>
      <vt:lpstr>2.LİRİK  ŞİİR </vt:lpstr>
      <vt:lpstr>PowerPoint Sunusu</vt:lpstr>
      <vt:lpstr>PowerPoint Sunusu</vt:lpstr>
      <vt:lpstr>3.DİDAKTİK  ŞİİR </vt:lpstr>
      <vt:lpstr>PowerPoint Sunusu</vt:lpstr>
      <vt:lpstr>PowerPoint Sunusu</vt:lpstr>
      <vt:lpstr>4.PASTORAL   ŞİİR </vt:lpstr>
      <vt:lpstr> BİNGÖL ÇOBANLARI</vt:lpstr>
      <vt:lpstr>PowerPoint Sunusu</vt:lpstr>
      <vt:lpstr>PowerPoint Sunusu</vt:lpstr>
      <vt:lpstr> 5.DRAMATİK  ŞİİR </vt:lpstr>
      <vt:lpstr> 6.SATİRİK  ŞİİR </vt:lpstr>
      <vt:lpstr> ORMANDA BÜYÜYEN ADAM AZGINI </vt:lpstr>
      <vt:lpstr>Şiirle İlgili Terimler</vt:lpstr>
      <vt:lpstr>PowerPoint Sunusu</vt:lpstr>
      <vt:lpstr>PowerPoint Sunusu</vt:lpstr>
      <vt:lpstr>MANİ</vt:lpstr>
      <vt:lpstr>PowerPoint Sunusu</vt:lpstr>
      <vt:lpstr>PowerPoint Sunusu</vt:lpstr>
      <vt:lpstr>PowerPoint Sunusu</vt:lpstr>
      <vt:lpstr>Ahmet Kutsi Tecer «Nerdesin?» şiirini yorumlayın.</vt:lpstr>
      <vt:lpstr>                   KAYNAKÇA              </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ŞİİR</dc:title>
  <dc:creator>User</dc:creator>
  <cp:lastModifiedBy>ACER</cp:lastModifiedBy>
  <cp:revision>44</cp:revision>
  <dcterms:created xsi:type="dcterms:W3CDTF">2013-02-15T20:02:00Z</dcterms:created>
  <dcterms:modified xsi:type="dcterms:W3CDTF">2021-03-23T05:34:23Z</dcterms:modified>
</cp:coreProperties>
</file>